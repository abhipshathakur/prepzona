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2" r:id="rId7"/>
    <p:sldId id="260" r:id="rId8"/>
    <p:sldId id="261" r:id="rId9"/>
  </p:sldIdLst>
  <p:sldSz cx="12192000" cy="6858000"/>
  <p:notesSz cx="12192000" cy="6858000"/>
  <p:custDataLst>
    <p:tags r:id="rId13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8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2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dirty="0"/>
              <a:t>8</a:t>
            </a:r>
            <a:r>
              <a:rPr spc="-10" dirty="0"/>
              <a:t> October</a:t>
            </a:r>
            <a:endParaRPr spc="-10" dirty="0"/>
          </a:p>
          <a:p>
            <a:pPr marR="5080" algn="r">
              <a:lnSpc>
                <a:spcPct val="100000"/>
              </a:lnSpc>
            </a:pPr>
            <a:r>
              <a:rPr spc="-20" dirty="0"/>
              <a:t>2025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0000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#AchyutaSamanta</a:t>
            </a:r>
            <a:r>
              <a:rPr spc="-75" dirty="0"/>
              <a:t> </a:t>
            </a:r>
            <a:r>
              <a:rPr spc="-10" dirty="0"/>
              <a:t>#ArtofGiving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dirty="0"/>
              <a:t>8</a:t>
            </a:r>
            <a:r>
              <a:rPr spc="-10" dirty="0"/>
              <a:t> October</a:t>
            </a:r>
            <a:endParaRPr spc="-10" dirty="0"/>
          </a:p>
          <a:p>
            <a:pPr marR="5080" algn="r">
              <a:lnSpc>
                <a:spcPct val="100000"/>
              </a:lnSpc>
            </a:pPr>
            <a:r>
              <a:rPr spc="-20" dirty="0"/>
              <a:t>2025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0000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#AchyutaSamanta</a:t>
            </a:r>
            <a:r>
              <a:rPr spc="-75" dirty="0"/>
              <a:t> </a:t>
            </a:r>
            <a:r>
              <a:rPr spc="-10" dirty="0"/>
              <a:t>#ArtofGiving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11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199" y="6857999"/>
                </a:lnTo>
              </a:path>
            </a:pathLst>
          </a:custGeom>
          <a:ln w="9524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425267" y="3681412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57" y="0"/>
                </a:moveTo>
                <a:lnTo>
                  <a:pt x="0" y="3176586"/>
                </a:lnTo>
              </a:path>
            </a:pathLst>
          </a:custGeom>
          <a:ln w="9524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181475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7349" y="6857999"/>
                </a:moveTo>
                <a:lnTo>
                  <a:pt x="0" y="6857999"/>
                </a:lnTo>
                <a:lnTo>
                  <a:pt x="2043009" y="0"/>
                </a:lnTo>
                <a:lnTo>
                  <a:pt x="3007349" y="0"/>
                </a:lnTo>
                <a:lnTo>
                  <a:pt x="3007349" y="6857999"/>
                </a:lnTo>
                <a:close/>
              </a:path>
            </a:pathLst>
          </a:custGeom>
          <a:solidFill>
            <a:srgbClr val="90C126">
              <a:alpha val="2980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9604934" y="0"/>
            <a:ext cx="2587625" cy="6858000"/>
          </a:xfrm>
          <a:custGeom>
            <a:avLst/>
            <a:gdLst/>
            <a:ahLst/>
            <a:cxnLst/>
            <a:rect l="l" t="t" r="r" b="b"/>
            <a:pathLst>
              <a:path w="2587625" h="6858000">
                <a:moveTo>
                  <a:pt x="2587066" y="6857999"/>
                </a:moveTo>
                <a:lnTo>
                  <a:pt x="1207967" y="6857999"/>
                </a:lnTo>
                <a:lnTo>
                  <a:pt x="0" y="0"/>
                </a:lnTo>
                <a:lnTo>
                  <a:pt x="2587066" y="0"/>
                </a:lnTo>
                <a:lnTo>
                  <a:pt x="2587066" y="6857999"/>
                </a:lnTo>
                <a:close/>
              </a:path>
            </a:pathLst>
          </a:custGeom>
          <a:solidFill>
            <a:srgbClr val="90C126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932332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667" y="3809999"/>
                </a:moveTo>
                <a:lnTo>
                  <a:pt x="0" y="3809999"/>
                </a:lnTo>
                <a:lnTo>
                  <a:pt x="3259667" y="0"/>
                </a:lnTo>
                <a:lnTo>
                  <a:pt x="3259667" y="3809999"/>
                </a:lnTo>
                <a:close/>
              </a:path>
            </a:pathLst>
          </a:custGeom>
          <a:solidFill>
            <a:srgbClr val="54A021">
              <a:alpha val="7176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337546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279" y="6857999"/>
                </a:moveTo>
                <a:lnTo>
                  <a:pt x="2467704" y="6857999"/>
                </a:lnTo>
                <a:lnTo>
                  <a:pt x="0" y="0"/>
                </a:lnTo>
                <a:lnTo>
                  <a:pt x="2851279" y="0"/>
                </a:lnTo>
                <a:lnTo>
                  <a:pt x="2851279" y="6857999"/>
                </a:lnTo>
                <a:close/>
              </a:path>
            </a:pathLst>
          </a:custGeom>
          <a:solidFill>
            <a:srgbClr val="3E7818">
              <a:alpha val="69802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0898730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94" y="6857999"/>
                </a:moveTo>
                <a:lnTo>
                  <a:pt x="0" y="6857999"/>
                </a:lnTo>
                <a:lnTo>
                  <a:pt x="1018477" y="0"/>
                </a:lnTo>
                <a:lnTo>
                  <a:pt x="1290094" y="0"/>
                </a:lnTo>
                <a:lnTo>
                  <a:pt x="1290094" y="6857999"/>
                </a:lnTo>
                <a:close/>
              </a:path>
            </a:pathLst>
          </a:custGeom>
          <a:solidFill>
            <a:srgbClr val="BEE471">
              <a:alpha val="69802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0940367" y="0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8457" y="6857999"/>
                </a:moveTo>
                <a:lnTo>
                  <a:pt x="1108014" y="6857999"/>
                </a:lnTo>
                <a:lnTo>
                  <a:pt x="0" y="0"/>
                </a:lnTo>
                <a:lnTo>
                  <a:pt x="1248457" y="0"/>
                </a:lnTo>
                <a:lnTo>
                  <a:pt x="1248457" y="6857999"/>
                </a:lnTo>
                <a:close/>
              </a:path>
            </a:pathLst>
          </a:custGeom>
          <a:solidFill>
            <a:srgbClr val="90C126">
              <a:alpha val="6470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0371665" y="3589867"/>
            <a:ext cx="1817370" cy="3268345"/>
          </a:xfrm>
          <a:custGeom>
            <a:avLst/>
            <a:gdLst/>
            <a:ahLst/>
            <a:cxnLst/>
            <a:rect l="l" t="t" r="r" b="b"/>
            <a:pathLst>
              <a:path w="1817370" h="3268345">
                <a:moveTo>
                  <a:pt x="1817159" y="3268132"/>
                </a:moveTo>
                <a:lnTo>
                  <a:pt x="0" y="3268132"/>
                </a:lnTo>
                <a:lnTo>
                  <a:pt x="1817159" y="0"/>
                </a:lnTo>
                <a:lnTo>
                  <a:pt x="1817159" y="3268132"/>
                </a:lnTo>
                <a:close/>
              </a:path>
            </a:pathLst>
          </a:custGeom>
          <a:solidFill>
            <a:srgbClr val="90C126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0" y="4013200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448732" y="2844799"/>
                </a:moveTo>
                <a:lnTo>
                  <a:pt x="0" y="2844799"/>
                </a:lnTo>
                <a:lnTo>
                  <a:pt x="0" y="0"/>
                </a:lnTo>
                <a:lnTo>
                  <a:pt x="448732" y="2844799"/>
                </a:lnTo>
                <a:close/>
              </a:path>
            </a:pathLst>
          </a:custGeom>
          <a:solidFill>
            <a:srgbClr val="90C126">
              <a:alpha val="8470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dirty="0"/>
              <a:t>8</a:t>
            </a:r>
            <a:r>
              <a:rPr spc="-10" dirty="0"/>
              <a:t> October</a:t>
            </a:r>
            <a:endParaRPr spc="-10" dirty="0"/>
          </a:p>
          <a:p>
            <a:pPr marR="5080" algn="r">
              <a:lnSpc>
                <a:spcPct val="100000"/>
              </a:lnSpc>
            </a:pPr>
            <a:r>
              <a:rPr spc="-20" dirty="0"/>
              <a:t>2025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0000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#AchyutaSamanta</a:t>
            </a:r>
            <a:r>
              <a:rPr spc="-75" dirty="0"/>
              <a:t> </a:t>
            </a:r>
            <a:r>
              <a:rPr spc="-10" dirty="0"/>
              <a:t>#ArtofGiving</a:t>
            </a:r>
            <a:endParaRPr spc="-1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dirty="0"/>
              <a:t>8</a:t>
            </a:r>
            <a:r>
              <a:rPr spc="-10" dirty="0"/>
              <a:t> October</a:t>
            </a:r>
            <a:endParaRPr spc="-10" dirty="0"/>
          </a:p>
          <a:p>
            <a:pPr marR="5080" algn="r">
              <a:lnSpc>
                <a:spcPct val="100000"/>
              </a:lnSpc>
            </a:pPr>
            <a:r>
              <a:rPr spc="-20" dirty="0"/>
              <a:t>2025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0000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#AchyutaSamanta</a:t>
            </a:r>
            <a:r>
              <a:rPr spc="-75" dirty="0"/>
              <a:t> </a:t>
            </a:r>
            <a:r>
              <a:rPr spc="-10" dirty="0"/>
              <a:t>#ArtofGiving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dirty="0"/>
              <a:t>8</a:t>
            </a:r>
            <a:r>
              <a:rPr spc="-10" dirty="0"/>
              <a:t> October</a:t>
            </a:r>
            <a:endParaRPr spc="-10" dirty="0"/>
          </a:p>
          <a:p>
            <a:pPr marR="5080" algn="r">
              <a:lnSpc>
                <a:spcPct val="100000"/>
              </a:lnSpc>
            </a:pPr>
            <a:r>
              <a:rPr spc="-20" dirty="0"/>
              <a:t>2025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F0000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#AchyutaSamanta</a:t>
            </a:r>
            <a:r>
              <a:rPr spc="-75" dirty="0"/>
              <a:t> </a:t>
            </a:r>
            <a:r>
              <a:rPr spc="-10" dirty="0"/>
              <a:t>#ArtofGiving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11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199" y="6857999"/>
                </a:lnTo>
              </a:path>
            </a:pathLst>
          </a:custGeom>
          <a:ln w="9524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425267" y="3681412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57" y="0"/>
                </a:moveTo>
                <a:lnTo>
                  <a:pt x="0" y="3176586"/>
                </a:lnTo>
              </a:path>
            </a:pathLst>
          </a:custGeom>
          <a:ln w="9524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181475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7349" y="6857999"/>
                </a:moveTo>
                <a:lnTo>
                  <a:pt x="0" y="6857999"/>
                </a:lnTo>
                <a:lnTo>
                  <a:pt x="2043009" y="0"/>
                </a:lnTo>
                <a:lnTo>
                  <a:pt x="3007349" y="0"/>
                </a:lnTo>
                <a:lnTo>
                  <a:pt x="3007349" y="6857999"/>
                </a:lnTo>
                <a:close/>
              </a:path>
            </a:pathLst>
          </a:custGeom>
          <a:solidFill>
            <a:srgbClr val="90C126">
              <a:alpha val="2980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9604934" y="0"/>
            <a:ext cx="2587625" cy="6858000"/>
          </a:xfrm>
          <a:custGeom>
            <a:avLst/>
            <a:gdLst/>
            <a:ahLst/>
            <a:cxnLst/>
            <a:rect l="l" t="t" r="r" b="b"/>
            <a:pathLst>
              <a:path w="2587625" h="6858000">
                <a:moveTo>
                  <a:pt x="2587066" y="6857999"/>
                </a:moveTo>
                <a:lnTo>
                  <a:pt x="1207967" y="6857999"/>
                </a:lnTo>
                <a:lnTo>
                  <a:pt x="0" y="0"/>
                </a:lnTo>
                <a:lnTo>
                  <a:pt x="2587066" y="0"/>
                </a:lnTo>
                <a:lnTo>
                  <a:pt x="2587066" y="6857999"/>
                </a:lnTo>
                <a:close/>
              </a:path>
            </a:pathLst>
          </a:custGeom>
          <a:solidFill>
            <a:srgbClr val="90C126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932332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667" y="3809999"/>
                </a:moveTo>
                <a:lnTo>
                  <a:pt x="0" y="3809999"/>
                </a:lnTo>
                <a:lnTo>
                  <a:pt x="3259667" y="0"/>
                </a:lnTo>
                <a:lnTo>
                  <a:pt x="3259667" y="3809999"/>
                </a:lnTo>
                <a:close/>
              </a:path>
            </a:pathLst>
          </a:custGeom>
          <a:solidFill>
            <a:srgbClr val="54A021">
              <a:alpha val="7176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337546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279" y="6857999"/>
                </a:moveTo>
                <a:lnTo>
                  <a:pt x="2467704" y="6857999"/>
                </a:lnTo>
                <a:lnTo>
                  <a:pt x="0" y="0"/>
                </a:lnTo>
                <a:lnTo>
                  <a:pt x="2851279" y="0"/>
                </a:lnTo>
                <a:lnTo>
                  <a:pt x="2851279" y="6857999"/>
                </a:lnTo>
                <a:close/>
              </a:path>
            </a:pathLst>
          </a:custGeom>
          <a:solidFill>
            <a:srgbClr val="3E7818">
              <a:alpha val="69802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0898730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94" y="6857999"/>
                </a:moveTo>
                <a:lnTo>
                  <a:pt x="0" y="6857999"/>
                </a:lnTo>
                <a:lnTo>
                  <a:pt x="1018477" y="0"/>
                </a:lnTo>
                <a:lnTo>
                  <a:pt x="1290094" y="0"/>
                </a:lnTo>
                <a:lnTo>
                  <a:pt x="1290094" y="6857999"/>
                </a:lnTo>
                <a:close/>
              </a:path>
            </a:pathLst>
          </a:custGeom>
          <a:solidFill>
            <a:srgbClr val="BEE471">
              <a:alpha val="69802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0940367" y="0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8457" y="6857999"/>
                </a:moveTo>
                <a:lnTo>
                  <a:pt x="1108014" y="6857999"/>
                </a:lnTo>
                <a:lnTo>
                  <a:pt x="0" y="0"/>
                </a:lnTo>
                <a:lnTo>
                  <a:pt x="1248457" y="0"/>
                </a:lnTo>
                <a:lnTo>
                  <a:pt x="1248457" y="6857999"/>
                </a:lnTo>
                <a:close/>
              </a:path>
            </a:pathLst>
          </a:custGeom>
          <a:solidFill>
            <a:srgbClr val="90C126">
              <a:alpha val="6470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0371665" y="3589867"/>
            <a:ext cx="1817370" cy="3268345"/>
          </a:xfrm>
          <a:custGeom>
            <a:avLst/>
            <a:gdLst/>
            <a:ahLst/>
            <a:cxnLst/>
            <a:rect l="l" t="t" r="r" b="b"/>
            <a:pathLst>
              <a:path w="1817370" h="3268345">
                <a:moveTo>
                  <a:pt x="1817159" y="3268132"/>
                </a:moveTo>
                <a:lnTo>
                  <a:pt x="0" y="3268132"/>
                </a:lnTo>
                <a:lnTo>
                  <a:pt x="1817159" y="0"/>
                </a:lnTo>
                <a:lnTo>
                  <a:pt x="1817159" y="3268132"/>
                </a:lnTo>
                <a:close/>
              </a:path>
            </a:pathLst>
          </a:custGeom>
          <a:solidFill>
            <a:srgbClr val="90C126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0358" y="376085"/>
            <a:ext cx="8752075" cy="6634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12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7693" y="1179583"/>
            <a:ext cx="10726420" cy="259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513561" y="6076469"/>
            <a:ext cx="530859" cy="295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dirty="0"/>
              <a:t>8</a:t>
            </a:r>
            <a:r>
              <a:rPr spc="-10" dirty="0"/>
              <a:t> October</a:t>
            </a:r>
            <a:endParaRPr spc="-10" dirty="0"/>
          </a:p>
          <a:p>
            <a:pPr marR="5080" algn="r">
              <a:lnSpc>
                <a:spcPct val="100000"/>
              </a:lnSpc>
            </a:pPr>
            <a:r>
              <a:rPr spc="-20" dirty="0"/>
              <a:t>2025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0630" y="6628244"/>
            <a:ext cx="2606675" cy="232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FF0000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#AchyutaSamanta</a:t>
            </a:r>
            <a:r>
              <a:rPr spc="-75" dirty="0"/>
              <a:t> </a:t>
            </a:r>
            <a:r>
              <a:rPr spc="-10" dirty="0"/>
              <a:t>#ArtofGiving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.jpeg"/><Relationship Id="rId6" Type="http://schemas.openxmlformats.org/officeDocument/2006/relationships/hyperlink" Target="https://vercel.com/docs" TargetMode="External"/><Relationship Id="rId5" Type="http://schemas.openxmlformats.org/officeDocument/2006/relationships/hyperlink" Target="https://learn.microsoft.com/en-us/azure%20%20" TargetMode="External"/><Relationship Id="rId4" Type="http://schemas.openxmlformats.org/officeDocument/2006/relationships/hyperlink" Target="https://tailwindcss.com" TargetMode="External"/><Relationship Id="rId3" Type="http://schemas.openxmlformats.org/officeDocument/2006/relationships/hyperlink" Target="%20https://jwt.io" TargetMode="External"/><Relationship Id="rId2" Type="http://schemas.openxmlformats.org/officeDocument/2006/relationships/hyperlink" Target="https://react.dev" TargetMode="External"/><Relationship Id="rId1" Type="http://schemas.openxmlformats.org/officeDocument/2006/relationships/hyperlink" Target="%20https://spring.io/projects/spring-boot%20%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469370" cy="5666740"/>
            <a:chOff x="0" y="0"/>
            <a:chExt cx="11469370" cy="566674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42644" cy="5666740"/>
            </a:xfrm>
            <a:custGeom>
              <a:avLst/>
              <a:gdLst/>
              <a:ahLst/>
              <a:cxnLst/>
              <a:rect l="l" t="t" r="r" b="b"/>
              <a:pathLst>
                <a:path w="842644" h="5666740">
                  <a:moveTo>
                    <a:pt x="0" y="5666153"/>
                  </a:moveTo>
                  <a:lnTo>
                    <a:pt x="0" y="0"/>
                  </a:lnTo>
                  <a:lnTo>
                    <a:pt x="842595" y="0"/>
                  </a:lnTo>
                  <a:lnTo>
                    <a:pt x="0" y="5666153"/>
                  </a:lnTo>
                  <a:close/>
                </a:path>
              </a:pathLst>
            </a:custGeom>
            <a:solidFill>
              <a:srgbClr val="90C126">
                <a:alpha val="8470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32143" y="375327"/>
              <a:ext cx="10637520" cy="621665"/>
            </a:xfrm>
            <a:custGeom>
              <a:avLst/>
              <a:gdLst/>
              <a:ahLst/>
              <a:cxnLst/>
              <a:rect l="l" t="t" r="r" b="b"/>
              <a:pathLst>
                <a:path w="10637520" h="621665">
                  <a:moveTo>
                    <a:pt x="10637217" y="621670"/>
                  </a:moveTo>
                  <a:lnTo>
                    <a:pt x="0" y="621670"/>
                  </a:lnTo>
                  <a:lnTo>
                    <a:pt x="0" y="0"/>
                  </a:lnTo>
                  <a:lnTo>
                    <a:pt x="10637217" y="0"/>
                  </a:lnTo>
                  <a:lnTo>
                    <a:pt x="10637217" y="6216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50358" y="71285"/>
            <a:ext cx="8752075" cy="1002030"/>
          </a:xfrm>
          <a:prstGeom prst="rect">
            <a:avLst/>
          </a:prstGeom>
        </p:spPr>
        <p:txBody>
          <a:bodyPr vert="horz" wrap="square" lIns="0" tIns="78876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000000"/>
                </a:solidFill>
              </a:rPr>
              <a:t>Project</a:t>
            </a:r>
            <a:r>
              <a:rPr sz="2800" spc="-14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Title:</a:t>
            </a:r>
            <a:r>
              <a:rPr sz="3200" spc="-85" dirty="0">
                <a:solidFill>
                  <a:srgbClr val="000000"/>
                </a:solidFill>
              </a:rPr>
              <a:t> </a:t>
            </a:r>
            <a:r>
              <a:rPr lang="en-US" altLang="en-US" sz="2800" b="1" dirty="0">
                <a:solidFill>
                  <a:srgbClr val="000000"/>
                </a:solidFill>
                <a:latin typeface="Trebuchet MS" panose="020B0603020202020204"/>
                <a:cs typeface="Trebuchet MS" panose="020B0603020202020204"/>
              </a:rPr>
              <a:t>Aegis Infra: A Multi-Tenant SaaS Backend Platform with StudyVault Integration</a:t>
            </a:r>
            <a:endParaRPr lang="en-US" altLang="en-US" sz="2800" b="1" dirty="0">
              <a:solidFill>
                <a:srgbClr val="000000"/>
              </a:solidFill>
              <a:latin typeface="Trebuchet MS" panose="020B0603020202020204"/>
              <a:cs typeface="Trebuchet MS" panose="020B060302020202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25793" y="1142753"/>
          <a:ext cx="10637520" cy="2621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1570"/>
                <a:gridCol w="6965949"/>
              </a:tblGrid>
              <a:tr h="376555">
                <a:tc>
                  <a:txBody>
                    <a:bodyPr/>
                    <a:lstStyle/>
                    <a:p>
                      <a:pPr marL="9302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Group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Members</a:t>
                      </a:r>
                      <a:endParaRPr sz="18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1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 panose="020B0603020202020204"/>
                          <a:cs typeface="Trebuchet MS" panose="020B0603020202020204"/>
                        </a:rPr>
                        <a:t>Contribution</a:t>
                      </a:r>
                      <a:endParaRPr sz="18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126"/>
                    </a:solidFill>
                  </a:tcPr>
                </a:tc>
              </a:tr>
              <a:tr h="681355">
                <a:tc>
                  <a:txBody>
                    <a:bodyPr/>
                    <a:lstStyle/>
                    <a:p>
                      <a:pPr marL="498475" marR="593090" indent="-502920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497205" algn="l"/>
                        </a:tabLst>
                      </a:pPr>
                      <a:r>
                        <a:rPr sz="1800" spc="-25" dirty="0">
                          <a:latin typeface="Trebuchet MS" panose="020B0603020202020204"/>
                          <a:cs typeface="Trebuchet MS" panose="020B0603020202020204"/>
                        </a:rPr>
                        <a:t>1.</a:t>
                      </a:r>
                      <a:r>
                        <a:rPr lang="en-US" sz="1800" dirty="0">
                          <a:latin typeface="Trebuchet MS" panose="020B0603020202020204"/>
                          <a:cs typeface="Trebuchet MS" panose="020B0603020202020204"/>
                        </a:rPr>
                        <a:t>Abhishek </a:t>
                      </a:r>
                      <a:r>
                        <a:rPr lang="en-US" sz="1800" spc="-90" dirty="0">
                          <a:latin typeface="Trebuchet MS" panose="020B0603020202020204"/>
                          <a:cs typeface="Trebuchet MS" panose="020B0603020202020204"/>
                        </a:rPr>
                        <a:t>Mohanty </a:t>
                      </a:r>
                      <a:r>
                        <a:rPr sz="1800" dirty="0">
                          <a:latin typeface="Trebuchet MS" panose="020B0603020202020204"/>
                          <a:cs typeface="Trebuchet MS" panose="020B0603020202020204"/>
                        </a:rPr>
                        <a:t>(</a:t>
                      </a:r>
                      <a:r>
                        <a:rPr lang="en-US" sz="1800" dirty="0">
                          <a:latin typeface="Trebuchet MS" panose="020B0603020202020204"/>
                          <a:cs typeface="Trebuchet MS" panose="020B0603020202020204"/>
                        </a:rPr>
                        <a:t>2470016</a:t>
                      </a:r>
                      <a:r>
                        <a:rPr sz="1800" spc="-10" dirty="0">
                          <a:latin typeface="Trebuchet MS" panose="020B0603020202020204"/>
                          <a:cs typeface="Trebuchet MS" panose="020B0603020202020204"/>
                        </a:rPr>
                        <a:t>)</a:t>
                      </a:r>
                      <a:endParaRPr sz="1800" spc="-10" dirty="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498475" marR="593090" indent="-502920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497205" algn="l"/>
                        </a:tabLst>
                      </a:pPr>
                      <a:r>
                        <a:rPr sz="1800" spc="-1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sz="1800" spc="-10" dirty="0">
                          <a:latin typeface="Trebuchet MS" panose="020B0603020202020204"/>
                          <a:cs typeface="Trebuchet MS" panose="020B0603020202020204"/>
                        </a:rPr>
                        <a:t>      </a:t>
                      </a:r>
                      <a:r>
                        <a:rPr sz="1800" dirty="0">
                          <a:latin typeface="Trebuchet MS" panose="020B0603020202020204"/>
                          <a:cs typeface="Trebuchet MS" panose="020B0603020202020204"/>
                        </a:rPr>
                        <a:t>[Prof.</a:t>
                      </a:r>
                      <a:r>
                        <a:rPr sz="1800" spc="-12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sz="1800" spc="-125" dirty="0">
                          <a:latin typeface="Trebuchet MS" panose="020B0603020202020204"/>
                          <a:cs typeface="Trebuchet MS" panose="020B0603020202020204"/>
                        </a:rPr>
                        <a:t>Bibhuti Bhusan Dash</a:t>
                      </a:r>
                      <a:r>
                        <a:rPr sz="1800" spc="-10" dirty="0">
                          <a:latin typeface="Trebuchet MS" panose="020B0603020202020204"/>
                          <a:cs typeface="Trebuchet MS" panose="020B0603020202020204"/>
                        </a:rPr>
                        <a:t>]</a:t>
                      </a:r>
                      <a:endParaRPr sz="18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B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225"/>
                        </a:spcBef>
                        <a:buNone/>
                        <a:tabLst>
                          <a:tab pos="427990" algn="l"/>
                        </a:tabLst>
                      </a:pPr>
                      <a:r>
                        <a:rPr lang="en-US" altLang="en-US" sz="1800">
                          <a:latin typeface="Trebuchet MS" panose="020B0603020202020204"/>
                          <a:cs typeface="Trebuchet MS" panose="020B0603020202020204"/>
                        </a:rPr>
                        <a:t>        Built SaaS backend, APIs &amp; authentication</a:t>
                      </a:r>
                      <a:endParaRPr lang="en-US" altLang="en-US" sz="18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indent="0">
                        <a:lnSpc>
                          <a:spcPct val="100000"/>
                        </a:lnSpc>
                        <a:buNone/>
                        <a:tabLst>
                          <a:tab pos="427990" algn="l"/>
                        </a:tabLst>
                      </a:pPr>
                      <a:r>
                        <a:rPr lang="en-US" altLang="en-US" sz="1800">
                          <a:latin typeface="Trebuchet MS" panose="020B0603020202020204"/>
                          <a:cs typeface="Trebuchet MS" panose="020B0603020202020204"/>
                        </a:rPr>
                        <a:t>        Implemented billing, RBAC &amp; system architecture</a:t>
                      </a:r>
                      <a:endParaRPr lang="en-US" altLang="en-US" sz="18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B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marL="498475" marR="593090" indent="-413385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495300" algn="l"/>
                        </a:tabLst>
                      </a:pPr>
                      <a:r>
                        <a:rPr sz="1800" spc="-25" dirty="0">
                          <a:latin typeface="Trebuchet MS" panose="020B0603020202020204"/>
                          <a:cs typeface="Trebuchet MS" panose="020B0603020202020204"/>
                        </a:rPr>
                        <a:t>2.</a:t>
                      </a:r>
                      <a:r>
                        <a:rPr lang="en-US" sz="1800" spc="-25" dirty="0">
                          <a:latin typeface="Trebuchet MS" panose="020B0603020202020204"/>
                          <a:cs typeface="Trebuchet MS" panose="020B0603020202020204"/>
                        </a:rPr>
                        <a:t>Aditya Singh</a:t>
                      </a:r>
                      <a:r>
                        <a:rPr sz="1800" spc="-9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800" dirty="0">
                          <a:latin typeface="Trebuchet MS" panose="020B0603020202020204"/>
                          <a:cs typeface="Trebuchet MS" panose="020B0603020202020204"/>
                        </a:rPr>
                        <a:t>(</a:t>
                      </a:r>
                      <a:r>
                        <a:rPr lang="en-US" sz="1800" dirty="0">
                          <a:latin typeface="Trebuchet MS" panose="020B0603020202020204"/>
                          <a:cs typeface="Trebuchet MS" panose="020B0603020202020204"/>
                        </a:rPr>
                        <a:t>2470024</a:t>
                      </a:r>
                      <a:r>
                        <a:rPr sz="1800" spc="-10" dirty="0">
                          <a:latin typeface="Trebuchet MS" panose="020B0603020202020204"/>
                          <a:cs typeface="Trebuchet MS" panose="020B0603020202020204"/>
                        </a:rPr>
                        <a:t>) </a:t>
                      </a:r>
                      <a:r>
                        <a:rPr sz="1800" dirty="0">
                          <a:latin typeface="Trebuchet MS" panose="020B0603020202020204"/>
                          <a:cs typeface="Trebuchet MS" panose="020B0603020202020204"/>
                        </a:rPr>
                        <a:t>[Prof.</a:t>
                      </a:r>
                      <a:r>
                        <a:rPr sz="1800" spc="-12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sz="1800" spc="-125" dirty="0">
                          <a:latin typeface="Trebuchet MS" panose="020B0603020202020204"/>
                          <a:cs typeface="Trebuchet MS" panose="020B0603020202020204"/>
                        </a:rPr>
                        <a:t>Manoj Ranjan Mishra</a:t>
                      </a:r>
                      <a:r>
                        <a:rPr sz="1800" spc="-10" dirty="0">
                          <a:latin typeface="Trebuchet MS" panose="020B0603020202020204"/>
                          <a:cs typeface="Trebuchet MS" panose="020B0603020202020204"/>
                        </a:rPr>
                        <a:t>]</a:t>
                      </a:r>
                      <a:endParaRPr sz="18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225"/>
                        </a:spcBef>
                        <a:buNone/>
                        <a:tabLst>
                          <a:tab pos="427990" algn="l"/>
                        </a:tabLst>
                      </a:pPr>
                      <a:r>
                        <a:rPr lang="en-US" altLang="en-US" sz="1800">
                          <a:latin typeface="Trebuchet MS" panose="020B0603020202020204"/>
                          <a:cs typeface="Trebuchet MS" panose="020B0603020202020204"/>
                        </a:rPr>
                        <a:t>        Developed UI using React &amp; Tailwind</a:t>
                      </a:r>
                      <a:endParaRPr lang="en-US" altLang="en-US" sz="18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indent="0">
                        <a:lnSpc>
                          <a:spcPct val="100000"/>
                        </a:lnSpc>
                        <a:buNone/>
                        <a:tabLst>
                          <a:tab pos="427990" algn="l"/>
                        </a:tabLst>
                      </a:pPr>
                      <a:r>
                        <a:rPr lang="en-US" altLang="en-US" sz="1800">
                          <a:latin typeface="Trebuchet MS" panose="020B0603020202020204"/>
                          <a:cs typeface="Trebuchet MS" panose="020B0603020202020204"/>
                        </a:rPr>
                        <a:t>        Integrated APIs and improved user experience</a:t>
                      </a:r>
                      <a:endParaRPr lang="en-US" altLang="en-US" sz="18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4E7"/>
                    </a:solidFill>
                  </a:tcPr>
                </a:tc>
              </a:tr>
              <a:tr h="913765">
                <a:tc>
                  <a:txBody>
                    <a:bodyPr/>
                    <a:lstStyle/>
                    <a:p>
                      <a:pPr marL="498475" marR="593090" indent="-413385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495300" algn="l"/>
                        </a:tabLst>
                      </a:pPr>
                      <a:r>
                        <a:rPr sz="1800" spc="-25" dirty="0">
                          <a:latin typeface="Trebuchet MS" panose="020B0603020202020204"/>
                          <a:cs typeface="Trebuchet MS" panose="020B0603020202020204"/>
                        </a:rPr>
                        <a:t>3.</a:t>
                      </a:r>
                      <a:r>
                        <a:rPr lang="en-US" sz="1800" spc="-25" dirty="0">
                          <a:latin typeface="Trebuchet MS" panose="020B0603020202020204"/>
                          <a:cs typeface="Trebuchet MS" panose="020B0603020202020204"/>
                        </a:rPr>
                        <a:t>Akash Sahu</a:t>
                      </a:r>
                      <a:r>
                        <a:rPr sz="1800" spc="-9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800" dirty="0">
                          <a:latin typeface="Trebuchet MS" panose="020B0603020202020204"/>
                          <a:cs typeface="Trebuchet MS" panose="020B0603020202020204"/>
                        </a:rPr>
                        <a:t>(</a:t>
                      </a:r>
                      <a:r>
                        <a:rPr lang="en-US" sz="1800" dirty="0">
                          <a:latin typeface="Trebuchet MS" panose="020B0603020202020204"/>
                          <a:cs typeface="Trebuchet MS" panose="020B0603020202020204"/>
                        </a:rPr>
                        <a:t>2470033</a:t>
                      </a:r>
                      <a:r>
                        <a:rPr sz="1800" spc="-10" dirty="0">
                          <a:latin typeface="Trebuchet MS" panose="020B0603020202020204"/>
                          <a:cs typeface="Trebuchet MS" panose="020B0603020202020204"/>
                        </a:rPr>
                        <a:t>) </a:t>
                      </a:r>
                      <a:endParaRPr sz="1800" spc="-10" dirty="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498475" marR="593090" indent="-413385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495300" algn="l"/>
                        </a:tabLst>
                      </a:pPr>
                      <a:r>
                        <a:rPr lang="en-US" sz="1800" dirty="0">
                          <a:latin typeface="Trebuchet MS" panose="020B0603020202020204"/>
                          <a:cs typeface="Trebuchet MS" panose="020B0603020202020204"/>
                        </a:rPr>
                        <a:t>      </a:t>
                      </a:r>
                      <a:r>
                        <a:rPr sz="1800" dirty="0">
                          <a:latin typeface="Trebuchet MS" panose="020B0603020202020204"/>
                          <a:cs typeface="Trebuchet MS" panose="020B0603020202020204"/>
                        </a:rPr>
                        <a:t>[Prof.</a:t>
                      </a:r>
                      <a:r>
                        <a:rPr lang="en-US" sz="1800" spc="-125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Manoj Ranjan Mishra</a:t>
                      </a:r>
                      <a:r>
                        <a:rPr sz="1800" spc="-10" dirty="0">
                          <a:latin typeface="Trebuchet MS" panose="020B0603020202020204"/>
                          <a:cs typeface="Trebuchet MS" panose="020B0603020202020204"/>
                        </a:rPr>
                        <a:t>]</a:t>
                      </a:r>
                      <a:endParaRPr sz="18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B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Bef>
                          <a:spcPts val="225"/>
                        </a:spcBef>
                        <a:buNone/>
                        <a:tabLst>
                          <a:tab pos="427990" algn="l"/>
                        </a:tabLst>
                      </a:pPr>
                      <a:r>
                        <a:rPr lang="en-US" altLang="en-US" sz="1800">
                          <a:latin typeface="Trebuchet MS" panose="020B0603020202020204"/>
                          <a:cs typeface="Trebuchet MS" panose="020B0603020202020204"/>
                        </a:rPr>
                        <a:t>        Designed MySQL schema &amp; relationships</a:t>
                      </a:r>
                      <a:endParaRPr lang="en-US" altLang="en-US" sz="18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indent="0">
                        <a:lnSpc>
                          <a:spcPct val="100000"/>
                        </a:lnSpc>
                        <a:buNone/>
                        <a:tabLst>
                          <a:tab pos="427990" algn="l"/>
                        </a:tabLst>
                      </a:pPr>
                      <a:r>
                        <a:rPr lang="en-US" altLang="en-US" sz="1800" spc="-50" dirty="0">
                          <a:latin typeface="Trebuchet MS" panose="020B0603020202020204"/>
                          <a:cs typeface="Trebuchet MS" panose="020B0603020202020204"/>
                        </a:rPr>
                        <a:t>         Optimized queries and ensured data integrity</a:t>
                      </a:r>
                      <a:endParaRPr sz="18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B"/>
                    </a:solidFill>
                  </a:tcPr>
                </a:tc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4264908"/>
            <a:ext cx="12192000" cy="2593340"/>
            <a:chOff x="0" y="4264908"/>
            <a:chExt cx="12192000" cy="2593340"/>
          </a:xfrm>
        </p:grpSpPr>
        <p:pic>
          <p:nvPicPr>
            <p:cNvPr id="8" name="object 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969501" y="4264908"/>
              <a:ext cx="5516735" cy="250019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95742" y="4264908"/>
              <a:ext cx="2796257" cy="25930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360053"/>
              <a:ext cx="2693657" cy="249794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7656" y="6629503"/>
            <a:ext cx="26066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0000"/>
                </a:solidFill>
                <a:latin typeface="Trebuchet MS" panose="020B0603020202020204"/>
                <a:cs typeface="Trebuchet MS" panose="020B0603020202020204"/>
              </a:rPr>
              <a:t>#AchyutaSamanta</a:t>
            </a:r>
            <a:r>
              <a:rPr sz="1400" b="1" spc="-75" dirty="0">
                <a:solidFill>
                  <a:srgbClr val="FF000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Trebuchet MS" panose="020B0603020202020204"/>
                <a:cs typeface="Trebuchet MS" panose="020B0603020202020204"/>
              </a:rPr>
              <a:t>#ArtofGiving</a:t>
            </a:r>
            <a:endParaRPr sz="1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84698" y="6604847"/>
            <a:ext cx="26066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0000"/>
                </a:solidFill>
                <a:latin typeface="Trebuchet MS" panose="020B0603020202020204"/>
                <a:cs typeface="Trebuchet MS" panose="020B0603020202020204"/>
              </a:rPr>
              <a:t>#AchyutaSamanta</a:t>
            </a:r>
            <a:r>
              <a:rPr sz="1400" b="1" spc="-75" dirty="0">
                <a:solidFill>
                  <a:srgbClr val="FF000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Trebuchet MS" panose="020B0603020202020204"/>
                <a:cs typeface="Trebuchet MS" panose="020B0603020202020204"/>
              </a:rPr>
              <a:t>#ArtofGiving</a:t>
            </a:r>
            <a:endParaRPr sz="1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4932" y="3873467"/>
            <a:ext cx="219583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rebuchet MS" panose="020B0603020202020204"/>
                <a:cs typeface="Trebuchet MS" panose="020B0603020202020204"/>
              </a:rPr>
              <a:t>MCA</a:t>
            </a:r>
            <a:r>
              <a:rPr sz="1800" b="1" spc="-10" dirty="0">
                <a:latin typeface="Trebuchet MS" panose="020B0603020202020204"/>
                <a:cs typeface="Trebuchet MS" panose="020B0603020202020204"/>
              </a:rPr>
              <a:t>[2024-</a:t>
            </a:r>
            <a:r>
              <a:rPr sz="1800" b="1" spc="-25" dirty="0">
                <a:latin typeface="Trebuchet MS" panose="020B0603020202020204"/>
                <a:cs typeface="Trebuchet MS" panose="020B0603020202020204"/>
              </a:rPr>
              <a:t>26]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200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448732" y="2844799"/>
                </a:moveTo>
                <a:lnTo>
                  <a:pt x="0" y="2844799"/>
                </a:lnTo>
                <a:lnTo>
                  <a:pt x="0" y="0"/>
                </a:lnTo>
                <a:lnTo>
                  <a:pt x="448732" y="2844799"/>
                </a:lnTo>
                <a:close/>
              </a:path>
            </a:pathLst>
          </a:custGeom>
          <a:solidFill>
            <a:srgbClr val="90C126">
              <a:alpha val="8470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677545" y="1313815"/>
            <a:ext cx="11132820" cy="4727575"/>
          </a:xfrm>
          <a:custGeom>
            <a:avLst/>
            <a:gdLst/>
            <a:ahLst/>
            <a:cxnLst/>
            <a:rect l="l" t="t" r="r" b="b"/>
            <a:pathLst>
              <a:path w="10901045" h="4727575">
                <a:moveTo>
                  <a:pt x="10901030" y="4727290"/>
                </a:moveTo>
                <a:lnTo>
                  <a:pt x="0" y="4727290"/>
                </a:lnTo>
                <a:lnTo>
                  <a:pt x="0" y="0"/>
                </a:lnTo>
                <a:lnTo>
                  <a:pt x="10901030" y="0"/>
                </a:lnTo>
                <a:lnTo>
                  <a:pt x="10901030" y="47272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4850" y="1203325"/>
            <a:ext cx="8757285" cy="2994025"/>
          </a:xfrm>
          <a:prstGeom prst="rect">
            <a:avLst/>
          </a:prstGeom>
        </p:spPr>
        <p:txBody>
          <a:bodyPr vert="horz" wrap="square" lIns="0" tIns="139700" rIns="0" bIns="0" rtlCol="0">
            <a:noAutofit/>
          </a:bodyPr>
          <a:lstStyle/>
          <a:p>
            <a:pPr marL="400685" indent="-387985">
              <a:lnSpc>
                <a:spcPct val="100000"/>
              </a:lnSpc>
              <a:spcBef>
                <a:spcPts val="11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2000" spc="-10" dirty="0">
                <a:solidFill>
                  <a:srgbClr val="3E3E3E"/>
                </a:solidFill>
                <a:latin typeface="Trebuchet MS" panose="020B0603020202020204"/>
                <a:cs typeface="Trebuchet MS" panose="020B0603020202020204"/>
              </a:rPr>
              <a:t>Aegis Infra is a multi-tenant SaaS backend platform for subscription management. 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2000" dirty="0">
                <a:solidFill>
                  <a:srgbClr val="3E3E3E"/>
                </a:solidFill>
                <a:latin typeface="Trebuchet MS" panose="020B0603020202020204"/>
                <a:cs typeface="Trebuchet MS" panose="020B0603020202020204"/>
              </a:rPr>
              <a:t>Provides centralized API-driven architecture for multiple client.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1800" dirty="0">
                <a:solidFill>
                  <a:srgbClr val="3E3E3E"/>
                </a:solidFill>
                <a:latin typeface="Trebuchet MS" panose="020B0603020202020204"/>
                <a:cs typeface="Trebuchet MS" panose="020B0603020202020204"/>
              </a:rPr>
              <a:t>Implements role-based access (USER, TENANT_ADMIN, ADMIN) using JWT security.</a:t>
            </a:r>
            <a:endParaRPr lang="en-US" altLang="en-US" sz="1800" dirty="0">
              <a:solidFill>
                <a:srgbClr val="3E3E3E"/>
              </a:solidFill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2000" spc="-10" dirty="0">
                <a:solidFill>
                  <a:srgbClr val="3E3E3E"/>
                </a:solidFill>
                <a:latin typeface="Trebuchet MS" panose="020B0603020202020204"/>
                <a:cs typeface="Trebuchet MS" panose="020B0603020202020204"/>
              </a:rPr>
              <a:t>Enables subscription lifecycle management (create, upgrade, track, cancel).</a:t>
            </a:r>
            <a:endParaRPr lang="en-US" altLang="en-US" sz="2000" spc="-10" dirty="0">
              <a:solidFill>
                <a:srgbClr val="3E3E3E"/>
              </a:solidFill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2000">
                <a:latin typeface="Trebuchet MS" panose="020B0603020202020204"/>
                <a:cs typeface="Trebuchet MS" panose="020B0603020202020204"/>
              </a:rPr>
              <a:t>Integrated with AI features like plan generation, analytics, and churn prediction.</a:t>
            </a:r>
            <a:endParaRPr lang="en-US" altLang="en-US" sz="20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2000">
                <a:latin typeface="Trebuchet MS" panose="020B0603020202020204"/>
                <a:cs typeface="Trebuchet MS" panose="020B0603020202020204"/>
              </a:rPr>
              <a:t>Built using Spring Boot (backend) + React (frontend) with cloud deployment.</a:t>
            </a:r>
            <a:endParaRPr lang="en-US" altLang="en-US" sz="20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2000">
                <a:latin typeface="Trebuchet MS" panose="020B0603020202020204"/>
                <a:cs typeface="Trebuchet MS" panose="020B0603020202020204"/>
              </a:rPr>
              <a:t>Demonstrates a scalable, secure, and production-ready SaaS system.</a:t>
            </a:r>
            <a:endParaRPr lang="en-US" altLang="en-US" sz="20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299225" y="5098840"/>
            <a:ext cx="1892774" cy="175915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dirty="0"/>
              <a:t>8</a:t>
            </a:r>
            <a:r>
              <a:rPr spc="-10" dirty="0"/>
              <a:t> October</a:t>
            </a:r>
            <a:endParaRPr spc="-10" dirty="0"/>
          </a:p>
          <a:p>
            <a:pPr marR="5080" algn="r">
              <a:lnSpc>
                <a:spcPct val="100000"/>
              </a:lnSpc>
            </a:pPr>
            <a:r>
              <a:rPr spc="-20" dirty="0"/>
              <a:t>2025</a:t>
            </a:r>
            <a:endParaRPr spc="-20" dirty="0"/>
          </a:p>
        </p:txBody>
      </p:sp>
      <p:sp>
        <p:nvSpPr>
          <p:cNvPr id="8" name="object 8"/>
          <p:cNvSpPr txBox="1"/>
          <p:nvPr/>
        </p:nvSpPr>
        <p:spPr>
          <a:xfrm>
            <a:off x="750358" y="6145048"/>
            <a:ext cx="1056640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MCA/MSc.</a:t>
            </a:r>
            <a:r>
              <a:rPr sz="900" spc="-4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spc="-1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[2024-</a:t>
            </a:r>
            <a:r>
              <a:rPr sz="900" spc="-25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26]</a:t>
            </a:r>
            <a:endParaRPr sz="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67209" y="6145048"/>
            <a:ext cx="1682750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School</a:t>
            </a:r>
            <a:r>
              <a:rPr sz="900" spc="-45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900" spc="-3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spc="-1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Computer</a:t>
            </a:r>
            <a:r>
              <a:rPr sz="900" spc="-6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spc="-1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Applications</a:t>
            </a:r>
            <a:endParaRPr sz="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#AchyutaSamanta</a:t>
            </a:r>
            <a:r>
              <a:rPr spc="-75" dirty="0"/>
              <a:t> </a:t>
            </a:r>
            <a:r>
              <a:rPr spc="-10" dirty="0"/>
              <a:t>#ArtofGiving</a:t>
            </a: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200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448732" y="2844799"/>
                </a:moveTo>
                <a:lnTo>
                  <a:pt x="0" y="2844799"/>
                </a:lnTo>
                <a:lnTo>
                  <a:pt x="0" y="0"/>
                </a:lnTo>
                <a:lnTo>
                  <a:pt x="448732" y="2844799"/>
                </a:lnTo>
                <a:close/>
              </a:path>
            </a:pathLst>
          </a:custGeom>
          <a:solidFill>
            <a:srgbClr val="90C126">
              <a:alpha val="8470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50358" y="417336"/>
            <a:ext cx="2926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Related</a:t>
            </a:r>
            <a:r>
              <a:rPr spc="-200" dirty="0"/>
              <a:t> </a:t>
            </a:r>
            <a:r>
              <a:rPr spc="-20" dirty="0"/>
              <a:t>Works</a:t>
            </a:r>
            <a:endParaRPr spc="-20" dirty="0"/>
          </a:p>
        </p:txBody>
      </p:sp>
      <p:sp>
        <p:nvSpPr>
          <p:cNvPr id="4" name="object 4"/>
          <p:cNvSpPr/>
          <p:nvPr/>
        </p:nvSpPr>
        <p:spPr>
          <a:xfrm>
            <a:off x="677332" y="1314072"/>
            <a:ext cx="10901045" cy="4727575"/>
          </a:xfrm>
          <a:custGeom>
            <a:avLst/>
            <a:gdLst/>
            <a:ahLst/>
            <a:cxnLst/>
            <a:rect l="l" t="t" r="r" b="b"/>
            <a:pathLst>
              <a:path w="10901045" h="4727575">
                <a:moveTo>
                  <a:pt x="10901030" y="4727290"/>
                </a:moveTo>
                <a:lnTo>
                  <a:pt x="0" y="4727290"/>
                </a:lnTo>
                <a:lnTo>
                  <a:pt x="0" y="0"/>
                </a:lnTo>
                <a:lnTo>
                  <a:pt x="10901030" y="0"/>
                </a:lnTo>
                <a:lnTo>
                  <a:pt x="10901030" y="47272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09600" y="1219200"/>
            <a:ext cx="8211185" cy="2347595"/>
          </a:xfrm>
          <a:prstGeom prst="rect">
            <a:avLst/>
          </a:prstGeom>
        </p:spPr>
        <p:txBody>
          <a:bodyPr vert="horz" wrap="square" lIns="0" tIns="139700" rIns="0" bIns="0" rtlCol="0">
            <a:noAutofit/>
          </a:bodyPr>
          <a:lstStyle/>
          <a:p>
            <a:pPr marL="400685" indent="-387985">
              <a:lnSpc>
                <a:spcPct val="100000"/>
              </a:lnSpc>
              <a:spcBef>
                <a:spcPts val="11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2000">
                <a:latin typeface="Trebuchet MS" panose="020B0603020202020204"/>
                <a:cs typeface="Trebuchet MS" panose="020B0603020202020204"/>
              </a:rPr>
              <a:t>Platforms like Stripe, Firebase, Supabase provide backend services.</a:t>
            </a:r>
            <a:endParaRPr lang="en-US" altLang="en-US" sz="20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11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2000">
                <a:latin typeface="Trebuchet MS" panose="020B0603020202020204"/>
                <a:cs typeface="Trebuchet MS" panose="020B0603020202020204"/>
              </a:rPr>
              <a:t>Tools like Razorpay, Zoho Subscriptions manage billing systems.</a:t>
            </a:r>
            <a:endParaRPr lang="en-US" altLang="en-US" sz="20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11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2000">
                <a:latin typeface="Trebuchet MS" panose="020B0603020202020204"/>
                <a:cs typeface="Trebuchet MS" panose="020B0603020202020204"/>
              </a:rPr>
              <a:t>Existing systems are not reusable as SaaS backend engines.</a:t>
            </a:r>
            <a:endParaRPr lang="en-US" altLang="en-US" sz="20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11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2000">
                <a:latin typeface="Trebuchet MS" panose="020B0603020202020204"/>
                <a:cs typeface="Trebuchet MS" panose="020B0603020202020204"/>
              </a:rPr>
              <a:t>Limited AI integration in traditional systems.</a:t>
            </a:r>
            <a:endParaRPr lang="en-US" altLang="en-US" sz="20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11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2000">
                <a:latin typeface="Trebuchet MS" panose="020B0603020202020204"/>
                <a:cs typeface="Trebuchet MS" panose="020B0603020202020204"/>
              </a:rPr>
              <a:t>Aegis Infra provides a unified, AI-powered backend solution.</a:t>
            </a:r>
            <a:endParaRPr lang="en-US" altLang="en-US" sz="20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288482" y="5092784"/>
            <a:ext cx="1903517" cy="176521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dirty="0"/>
              <a:t>8</a:t>
            </a:r>
            <a:r>
              <a:rPr spc="-10" dirty="0"/>
              <a:t> October</a:t>
            </a:r>
            <a:endParaRPr spc="-10" dirty="0"/>
          </a:p>
          <a:p>
            <a:pPr marR="5080" algn="r">
              <a:lnSpc>
                <a:spcPct val="100000"/>
              </a:lnSpc>
            </a:pPr>
            <a:r>
              <a:rPr spc="-20" dirty="0"/>
              <a:t>2025</a:t>
            </a:r>
            <a:endParaRPr spc="-20" dirty="0"/>
          </a:p>
        </p:txBody>
      </p:sp>
      <p:sp>
        <p:nvSpPr>
          <p:cNvPr id="8" name="object 8"/>
          <p:cNvSpPr txBox="1"/>
          <p:nvPr/>
        </p:nvSpPr>
        <p:spPr>
          <a:xfrm>
            <a:off x="750358" y="6145048"/>
            <a:ext cx="1056640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MCA/MSc.</a:t>
            </a:r>
            <a:r>
              <a:rPr sz="900" spc="-4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spc="-1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[2024-</a:t>
            </a:r>
            <a:r>
              <a:rPr sz="900" spc="-25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26]</a:t>
            </a:r>
            <a:endParaRPr sz="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67209" y="6145048"/>
            <a:ext cx="1682750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School</a:t>
            </a:r>
            <a:r>
              <a:rPr sz="900" spc="-45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900" spc="-3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spc="-1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Computer</a:t>
            </a:r>
            <a:r>
              <a:rPr sz="900" spc="-6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spc="-1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Applications</a:t>
            </a:r>
            <a:endParaRPr sz="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#AchyutaSamanta</a:t>
            </a:r>
            <a:r>
              <a:rPr spc="-75" dirty="0"/>
              <a:t> </a:t>
            </a:r>
            <a:r>
              <a:rPr spc="-10" dirty="0"/>
              <a:t>#ArtofGiving</a:t>
            </a:r>
            <a:endParaRPr spc="-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Our</a:t>
            </a:r>
            <a:r>
              <a:rPr spc="-15" dirty="0"/>
              <a:t> </a:t>
            </a:r>
            <a:r>
              <a:rPr spc="-10" dirty="0"/>
              <a:t>Methodology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04850" y="1203325"/>
            <a:ext cx="7279640" cy="367093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00685" indent="-387985">
              <a:lnSpc>
                <a:spcPct val="100000"/>
              </a:lnSpc>
              <a:spcBef>
                <a:spcPts val="11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1800" b="0">
                <a:latin typeface="Trebuchet MS" panose="020B0603020202020204"/>
                <a:cs typeface="Trebuchet MS" panose="020B0603020202020204"/>
              </a:rPr>
              <a:t>Followed Agile development approach </a:t>
            </a:r>
            <a:endParaRPr lang="en-US" altLang="en-US" sz="1800" b="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11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1800" b="0">
                <a:latin typeface="Trebuchet MS" panose="020B0603020202020204"/>
                <a:cs typeface="Trebuchet MS" panose="020B0603020202020204"/>
              </a:rPr>
              <a:t>Designed system using API-first architecture</a:t>
            </a:r>
            <a:endParaRPr lang="en-US" altLang="en-US" sz="1800" b="0">
              <a:latin typeface="Trebuchet MS" panose="020B0603020202020204"/>
              <a:cs typeface="Trebuchet MS" panose="020B0603020202020204"/>
            </a:endParaRPr>
          </a:p>
          <a:p>
            <a:pPr marL="400685" marR="5080" indent="-388620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1800" b="0" spc="-50" dirty="0">
                <a:solidFill>
                  <a:srgbClr val="3E3E3E"/>
                </a:solidFill>
                <a:latin typeface="Trebuchet MS" panose="020B0603020202020204"/>
                <a:cs typeface="Trebuchet MS" panose="020B0603020202020204"/>
              </a:rPr>
              <a:t>Backend developed using Spring Boot framework</a:t>
            </a:r>
            <a:endParaRPr lang="en-US" altLang="en-US" sz="1800" b="0" spc="-50" dirty="0">
              <a:solidFill>
                <a:srgbClr val="3E3E3E"/>
              </a:solidFill>
              <a:latin typeface="Trebuchet MS" panose="020B0603020202020204"/>
              <a:cs typeface="Trebuchet MS" panose="020B0603020202020204"/>
              <a:sym typeface="+mn-ea"/>
            </a:endParaRPr>
          </a:p>
          <a:p>
            <a:pPr marL="400685" marR="5080" indent="-388620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1800" b="0" spc="-50" dirty="0">
                <a:solidFill>
                  <a:srgbClr val="3E3E3E"/>
                </a:solidFill>
                <a:latin typeface="Trebuchet MS" panose="020B0603020202020204"/>
                <a:cs typeface="Trebuchet MS" panose="020B0603020202020204"/>
              </a:rPr>
              <a:t>Implemented JWT-based authentication and security</a:t>
            </a:r>
            <a:r>
              <a:rPr sz="1800" b="0" spc="-50" dirty="0">
                <a:solidFill>
                  <a:srgbClr val="3E3E3E"/>
                </a:solidFill>
                <a:latin typeface="Trebuchet MS" panose="020B0603020202020204"/>
                <a:cs typeface="Trebuchet MS" panose="020B0603020202020204"/>
              </a:rPr>
              <a:t> </a:t>
            </a:r>
            <a:endParaRPr sz="1800" b="0" spc="-50" dirty="0">
              <a:solidFill>
                <a:srgbClr val="3E3E3E"/>
              </a:solidFill>
              <a:latin typeface="Trebuchet MS" panose="020B0603020202020204"/>
              <a:cs typeface="Trebuchet MS" panose="020B0603020202020204"/>
            </a:endParaRPr>
          </a:p>
          <a:p>
            <a:pPr marL="400685" marR="5080" indent="-388620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1800" b="0">
                <a:latin typeface="Trebuchet MS" panose="020B0603020202020204"/>
                <a:cs typeface="Trebuchet MS" panose="020B0603020202020204"/>
              </a:rPr>
              <a:t>Applied role-based access control (USER, ADMIN, TENANT)</a:t>
            </a:r>
            <a:endParaRPr lang="en-US" altLang="en-US" sz="1800" b="0">
              <a:latin typeface="Trebuchet MS" panose="020B0603020202020204"/>
              <a:cs typeface="Trebuchet MS" panose="020B0603020202020204"/>
            </a:endParaRPr>
          </a:p>
          <a:p>
            <a:pPr marL="400685" marR="5080" indent="-388620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1800" b="0">
                <a:latin typeface="Trebuchet MS" panose="020B0603020202020204"/>
                <a:cs typeface="Trebuchet MS" panose="020B0603020202020204"/>
              </a:rPr>
              <a:t>Frontend built using React and Tailwind CSS</a:t>
            </a:r>
            <a:endParaRPr lang="en-US" altLang="en-US" sz="1800" b="0">
              <a:latin typeface="Trebuchet MS" panose="020B0603020202020204"/>
              <a:cs typeface="Trebuchet MS" panose="020B0603020202020204"/>
            </a:endParaRPr>
          </a:p>
          <a:p>
            <a:pPr marL="400685" marR="5080" indent="-388620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1800" b="0">
                <a:latin typeface="Trebuchet MS" panose="020B0603020202020204"/>
                <a:cs typeface="Trebuchet MS" panose="020B0603020202020204"/>
              </a:rPr>
              <a:t>Integrated AI modules for analytics and predictions</a:t>
            </a:r>
            <a:endParaRPr lang="en-US" altLang="en-US" sz="1800" b="0">
              <a:latin typeface="Trebuchet MS" panose="020B0603020202020204"/>
              <a:cs typeface="Trebuchet MS" panose="020B0603020202020204"/>
            </a:endParaRPr>
          </a:p>
          <a:p>
            <a:pPr marL="400685" marR="5080" indent="-388620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1800" b="0">
                <a:latin typeface="Trebuchet MS" panose="020B0603020202020204"/>
                <a:cs typeface="Trebuchet MS" panose="020B0603020202020204"/>
              </a:rPr>
              <a:t>Tested APIs using Postman before frontend integration</a:t>
            </a:r>
            <a:endParaRPr lang="en-US" altLang="en-US" sz="1800" b="0">
              <a:latin typeface="Trebuchet MS" panose="020B0603020202020204"/>
              <a:cs typeface="Trebuchet MS" panose="020B0603020202020204"/>
            </a:endParaRPr>
          </a:p>
          <a:p>
            <a:pPr marL="400685" marR="5080" indent="-388620">
              <a:lnSpc>
                <a:spcPct val="100000"/>
              </a:lnSpc>
              <a:spcBef>
                <a:spcPts val="10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1800" b="0">
                <a:latin typeface="Trebuchet MS" panose="020B0603020202020204"/>
                <a:cs typeface="Trebuchet MS" panose="020B0603020202020204"/>
              </a:rPr>
              <a:t>Deployed system on Azure (backend) and Vercel (frontend)</a:t>
            </a:r>
            <a:endParaRPr lang="en-US" altLang="en-US" sz="1800" b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78675" y="1313815"/>
            <a:ext cx="4194175" cy="4727575"/>
          </a:xfrm>
          <a:custGeom>
            <a:avLst/>
            <a:gdLst/>
            <a:ahLst/>
            <a:cxnLst/>
            <a:rect l="l" t="t" r="r" b="b"/>
            <a:pathLst>
              <a:path w="5039359" h="4727575">
                <a:moveTo>
                  <a:pt x="5039180" y="4727290"/>
                </a:moveTo>
                <a:lnTo>
                  <a:pt x="0" y="4727290"/>
                </a:lnTo>
                <a:lnTo>
                  <a:pt x="0" y="0"/>
                </a:lnTo>
                <a:lnTo>
                  <a:pt x="5039180" y="0"/>
                </a:lnTo>
                <a:lnTo>
                  <a:pt x="5039180" y="47272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301540" y="5104894"/>
            <a:ext cx="1890459" cy="175310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dirty="0"/>
              <a:t>8</a:t>
            </a:r>
            <a:r>
              <a:rPr spc="-10" dirty="0"/>
              <a:t> October</a:t>
            </a:r>
            <a:endParaRPr spc="-10" dirty="0"/>
          </a:p>
          <a:p>
            <a:pPr marR="5080" algn="r">
              <a:lnSpc>
                <a:spcPct val="100000"/>
              </a:lnSpc>
            </a:pPr>
            <a:r>
              <a:rPr spc="-20" dirty="0"/>
              <a:t>2025</a:t>
            </a:r>
            <a:endParaRPr spc="-20" dirty="0"/>
          </a:p>
        </p:txBody>
      </p:sp>
      <p:sp>
        <p:nvSpPr>
          <p:cNvPr id="9" name="object 9"/>
          <p:cNvSpPr txBox="1"/>
          <p:nvPr/>
        </p:nvSpPr>
        <p:spPr>
          <a:xfrm>
            <a:off x="750358" y="6145048"/>
            <a:ext cx="1056640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MCA/MSc.</a:t>
            </a:r>
            <a:r>
              <a:rPr sz="900" spc="-4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spc="-1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[2024-</a:t>
            </a:r>
            <a:r>
              <a:rPr sz="900" spc="-25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26]</a:t>
            </a:r>
            <a:endParaRPr sz="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67209" y="6145048"/>
            <a:ext cx="1682750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School</a:t>
            </a:r>
            <a:r>
              <a:rPr sz="900" spc="-45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900" spc="-3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spc="-1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Computer</a:t>
            </a:r>
            <a:r>
              <a:rPr sz="900" spc="-6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spc="-1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Applications</a:t>
            </a:r>
            <a:endParaRPr sz="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#AchyutaSamanta</a:t>
            </a:r>
            <a:r>
              <a:rPr spc="-75" dirty="0"/>
              <a:t> </a:t>
            </a:r>
            <a:r>
              <a:rPr spc="-10" dirty="0"/>
              <a:t>#ArtofGiving</a:t>
            </a:r>
            <a:endParaRPr spc="-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50358" y="376085"/>
            <a:ext cx="8752075" cy="553720"/>
          </a:xfrm>
        </p:spPr>
        <p:txBody>
          <a:bodyPr/>
          <a:p>
            <a:r>
              <a:rPr lang="en-US"/>
              <a:t>System Workflow Diagram</a:t>
            </a:r>
            <a:endParaRPr lang="en-US"/>
          </a:p>
        </p:txBody>
      </p:sp>
      <p:sp>
        <p:nvSpPr>
          <p:cNvPr id="9" name="对象6"/>
          <p:cNvSpPr/>
          <p:nvPr>
            <p:custDataLst>
              <p:tags r:id="rId1"/>
            </p:custDataLst>
          </p:nvPr>
        </p:nvSpPr>
        <p:spPr>
          <a:xfrm>
            <a:off x="688976" y="2149158"/>
            <a:ext cx="4086040" cy="4048800"/>
          </a:xfrm>
          <a:custGeom>
            <a:avLst/>
            <a:gdLst/>
            <a:ahLst/>
            <a:cxnLst/>
            <a:rect l="l" t="t" r="r" b="b"/>
            <a:pathLst>
              <a:path w="4059936" h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chemeClr val="accent1">
              <a:lumMod val="30000"/>
              <a:lumOff val="70000"/>
              <a:alpha val="30000"/>
            </a:schemeClr>
          </a:solidFill>
        </p:spPr>
        <p:txBody>
          <a:bodyPr lIns="0" tIns="0" rIns="0" bIns="0">
            <a:noAutofit/>
          </a:bodyPr>
          <a:p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对象1"/>
          <p:cNvSpPr/>
          <p:nvPr>
            <p:custDataLst>
              <p:tags r:id="rId2"/>
            </p:custDataLst>
          </p:nvPr>
        </p:nvSpPr>
        <p:spPr>
          <a:xfrm>
            <a:off x="5177791" y="3593783"/>
            <a:ext cx="6325344" cy="1143000"/>
          </a:xfrm>
          <a:custGeom>
            <a:avLst/>
            <a:gdLst/>
            <a:ahLst/>
            <a:cxnLst/>
            <a:rect l="l" t="t" r="r" b="b"/>
            <a:pathLst>
              <a:path w="6409944" h="1143000">
                <a:moveTo>
                  <a:pt x="9144" y="1143000"/>
                </a:moveTo>
                <a:lnTo>
                  <a:pt x="6391656" y="1143000"/>
                </a:lnTo>
                <a:cubicBezTo>
                  <a:pt x="6400800" y="1143000"/>
                  <a:pt x="6409944" y="1133856"/>
                  <a:pt x="6409944" y="1133856"/>
                </a:cubicBezTo>
                <a:lnTo>
                  <a:pt x="6409944" y="9144"/>
                </a:lnTo>
                <a:cubicBezTo>
                  <a:pt x="6409944" y="9144"/>
                  <a:pt x="6400800" y="0"/>
                  <a:pt x="6391656" y="0"/>
                </a:cubicBezTo>
                <a:lnTo>
                  <a:pt x="9144" y="0"/>
                </a:lnTo>
                <a:cubicBezTo>
                  <a:pt x="0" y="0"/>
                  <a:pt x="0" y="9144"/>
                  <a:pt x="0" y="18288"/>
                </a:cubicBezTo>
                <a:lnTo>
                  <a:pt x="548640" y="566928"/>
                </a:lnTo>
                <a:cubicBezTo>
                  <a:pt x="548640" y="566928"/>
                  <a:pt x="548640" y="576072"/>
                  <a:pt x="548640" y="576072"/>
                </a:cubicBezTo>
                <a:lnTo>
                  <a:pt x="0" y="1124712"/>
                </a:lnTo>
                <a:cubicBezTo>
                  <a:pt x="0" y="1133856"/>
                  <a:pt x="0" y="1143000"/>
                  <a:pt x="9144" y="1143000"/>
                </a:cubicBezTo>
              </a:path>
            </a:pathLst>
          </a:custGeom>
          <a:noFill/>
          <a:ln w="12700">
            <a:gradFill>
              <a:gsLst>
                <a:gs pos="100000">
                  <a:schemeClr val="accent2">
                    <a:lumMod val="20000"/>
                    <a:lumOff val="80000"/>
                    <a:alpha val="0"/>
                  </a:schemeClr>
                </a:gs>
                <a:gs pos="2000">
                  <a:schemeClr val="accent2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36000" tIns="0" rIns="0" bIns="0" numCol="1" spcCol="0" rtlCol="0" fromWordArt="0" anchor="ctr" anchorCtr="0" forceAA="0" compatLnSpc="1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Api Calls </a:t>
            </a:r>
            <a:r>
              <a:rPr lang="en-US" alt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→</a:t>
            </a:r>
            <a:r>
              <a:rPr 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Backend (Spring Boot)</a:t>
            </a:r>
            <a:endParaRPr lang="en-US" sz="1800" b="1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6" name="对象2"/>
          <p:cNvSpPr/>
          <p:nvPr>
            <p:custDataLst>
              <p:tags r:id="rId3"/>
            </p:custDataLst>
          </p:nvPr>
        </p:nvSpPr>
        <p:spPr>
          <a:xfrm>
            <a:off x="3997326" y="2311718"/>
            <a:ext cx="7487791" cy="1132205"/>
          </a:xfrm>
          <a:custGeom>
            <a:avLst/>
            <a:gdLst>
              <a:gd name="connsiteX0" fmla="*/ 1722 w 11918"/>
              <a:gd name="connsiteY0" fmla="*/ 1783 h 1783"/>
              <a:gd name="connsiteX1" fmla="*/ 1665 w 11918"/>
              <a:gd name="connsiteY1" fmla="*/ 1754 h 1783"/>
              <a:gd name="connsiteX2" fmla="*/ 1636 w 11918"/>
              <a:gd name="connsiteY2" fmla="*/ 1740 h 1783"/>
              <a:gd name="connsiteX3" fmla="*/ 9 w 11918"/>
              <a:gd name="connsiteY3" fmla="*/ 127 h 1783"/>
              <a:gd name="connsiteX4" fmla="*/ 253 w 11918"/>
              <a:gd name="connsiteY4" fmla="*/ 8 h 1783"/>
              <a:gd name="connsiteX5" fmla="*/ 11810 w 11918"/>
              <a:gd name="connsiteY5" fmla="*/ 0 h 1783"/>
              <a:gd name="connsiteX6" fmla="*/ 11918 w 11918"/>
              <a:gd name="connsiteY6" fmla="*/ 69 h 1783"/>
              <a:gd name="connsiteX7" fmla="*/ 11918 w 11918"/>
              <a:gd name="connsiteY7" fmla="*/ 1697 h 1783"/>
              <a:gd name="connsiteX8" fmla="*/ 11831 w 11918"/>
              <a:gd name="connsiteY8" fmla="*/ 1783 h 1783"/>
              <a:gd name="connsiteX9" fmla="*/ 1722 w 11918"/>
              <a:gd name="connsiteY9" fmla="*/ 1783 h 1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918" h="1783">
                <a:moveTo>
                  <a:pt x="1722" y="1783"/>
                </a:moveTo>
                <a:cubicBezTo>
                  <a:pt x="1694" y="1783"/>
                  <a:pt x="1679" y="1769"/>
                  <a:pt x="1665" y="1754"/>
                </a:cubicBezTo>
                <a:cubicBezTo>
                  <a:pt x="1650" y="1754"/>
                  <a:pt x="1650" y="1740"/>
                  <a:pt x="1636" y="1740"/>
                </a:cubicBezTo>
                <a:lnTo>
                  <a:pt x="9" y="127"/>
                </a:lnTo>
                <a:cubicBezTo>
                  <a:pt x="-49" y="69"/>
                  <a:pt x="181" y="8"/>
                  <a:pt x="253" y="8"/>
                </a:cubicBezTo>
                <a:lnTo>
                  <a:pt x="11810" y="0"/>
                </a:lnTo>
                <a:cubicBezTo>
                  <a:pt x="11897" y="28"/>
                  <a:pt x="11918" y="12"/>
                  <a:pt x="11918" y="69"/>
                </a:cubicBezTo>
                <a:lnTo>
                  <a:pt x="11918" y="1697"/>
                </a:lnTo>
                <a:cubicBezTo>
                  <a:pt x="11918" y="1754"/>
                  <a:pt x="11874" y="1783"/>
                  <a:pt x="11831" y="1783"/>
                </a:cubicBezTo>
                <a:lnTo>
                  <a:pt x="1722" y="1783"/>
                </a:lnTo>
              </a:path>
            </a:pathLst>
          </a:custGeom>
          <a:noFill/>
          <a:ln w="12700"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2000">
                  <a:schemeClr val="accent1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224000" tIns="0" rIns="0" bIns="0" numCol="1" spcCol="0" rtlCol="0" fromWordArt="0" anchor="ctr" anchorCtr="0" forceAA="0" compatLnSpc="1">
            <a:normAutofit/>
          </a:bodyPr>
          <a:p>
            <a:pPr lvl="2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User </a:t>
            </a:r>
            <a:r>
              <a:rPr lang="en-US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→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Frontend (React)</a:t>
            </a:r>
            <a:endParaRPr lang="en-US" sz="18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8" name="对象3"/>
          <p:cNvSpPr/>
          <p:nvPr>
            <p:custDataLst>
              <p:tags r:id="rId4"/>
            </p:custDataLst>
          </p:nvPr>
        </p:nvSpPr>
        <p:spPr>
          <a:xfrm>
            <a:off x="3984626" y="4886643"/>
            <a:ext cx="7487791" cy="1143000"/>
          </a:xfrm>
          <a:custGeom>
            <a:avLst/>
            <a:gdLst/>
            <a:ahLst/>
            <a:cxnLst/>
            <a:rect l="l" t="t" r="r" b="b"/>
            <a:pathLst>
              <a:path w="7580376" h="1143000">
                <a:moveTo>
                  <a:pt x="1106424" y="0"/>
                </a:moveTo>
                <a:cubicBezTo>
                  <a:pt x="1088136" y="0"/>
                  <a:pt x="1078992" y="9144"/>
                  <a:pt x="1069848" y="18288"/>
                </a:cubicBezTo>
                <a:cubicBezTo>
                  <a:pt x="1060704" y="18288"/>
                  <a:pt x="1060704" y="27432"/>
                  <a:pt x="1051560" y="27432"/>
                </a:cubicBezTo>
                <a:lnTo>
                  <a:pt x="18288" y="1051560"/>
                </a:lnTo>
                <a:cubicBezTo>
                  <a:pt x="-18288" y="1088136"/>
                  <a:pt x="9144" y="1143000"/>
                  <a:pt x="54864" y="1143000"/>
                </a:cubicBezTo>
                <a:lnTo>
                  <a:pt x="7525512" y="1143000"/>
                </a:lnTo>
                <a:cubicBezTo>
                  <a:pt x="7552944" y="1143000"/>
                  <a:pt x="7580376" y="1124712"/>
                  <a:pt x="7580376" y="1088136"/>
                </a:cubicBezTo>
                <a:lnTo>
                  <a:pt x="7580376" y="54864"/>
                </a:lnTo>
                <a:cubicBezTo>
                  <a:pt x="7580376" y="18288"/>
                  <a:pt x="7552944" y="0"/>
                  <a:pt x="7525512" y="0"/>
                </a:cubicBezTo>
                <a:lnTo>
                  <a:pt x="1106424" y="0"/>
                </a:lnTo>
              </a:path>
            </a:pathLst>
          </a:custGeom>
          <a:noFill/>
          <a:ln w="12700"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2000">
                  <a:schemeClr val="accent1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224000" tIns="0" rIns="0" bIns="0" numCol="1" spcCol="0" rtlCol="0" fromWordArt="0" anchor="ctr" anchorCtr="0" forceAA="0" compatLnSpc="1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Database </a:t>
            </a:r>
            <a:r>
              <a:rPr lang="en-US" alt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→</a:t>
            </a:r>
            <a:r>
              <a:rPr 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AI Engine </a:t>
            </a:r>
            <a:r>
              <a:rPr lang="en-US" alt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→</a:t>
            </a:r>
            <a:r>
              <a:rPr 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Response</a:t>
            </a:r>
            <a:endParaRPr lang="en-US" sz="1800" b="1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0" name="对象5"/>
          <p:cNvSpPr/>
          <p:nvPr>
            <p:custDataLst>
              <p:tags r:id="rId5"/>
            </p:custDataLst>
          </p:nvPr>
        </p:nvSpPr>
        <p:spPr>
          <a:xfrm>
            <a:off x="3974466" y="1971993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lt1"/>
                </a:solidFill>
                <a:latin typeface="+mn-lt"/>
                <a:sym typeface="+mn-lt"/>
              </a:rPr>
              <a:t>01</a:t>
            </a:r>
            <a:endParaRPr lang="en-US" sz="2400" b="1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11" name="对象6"/>
          <p:cNvSpPr/>
          <p:nvPr>
            <p:custDataLst>
              <p:tags r:id="rId6"/>
            </p:custDataLst>
          </p:nvPr>
        </p:nvSpPr>
        <p:spPr>
          <a:xfrm>
            <a:off x="4999991" y="381031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2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lt1"/>
                </a:solidFill>
                <a:latin typeface="+mn-lt"/>
                <a:sym typeface="+mn-lt"/>
              </a:rPr>
              <a:t>02</a:t>
            </a:r>
            <a:endParaRPr lang="en-US" sz="2400" b="1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12" name="对象7"/>
          <p:cNvSpPr/>
          <p:nvPr>
            <p:custDataLst>
              <p:tags r:id="rId7"/>
            </p:custDataLst>
          </p:nvPr>
        </p:nvSpPr>
        <p:spPr>
          <a:xfrm>
            <a:off x="3974466" y="5643563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lt1"/>
                </a:solidFill>
                <a:latin typeface="+mn-lt"/>
                <a:sym typeface="+mn-lt"/>
              </a:rPr>
              <a:t>03</a:t>
            </a:r>
            <a:endParaRPr lang="en-US" sz="2400" b="1">
              <a:solidFill>
                <a:schemeClr val="lt1"/>
              </a:solidFill>
              <a:latin typeface="+mn-lt"/>
              <a:sym typeface="+mn-lt"/>
            </a:endParaRPr>
          </a:p>
        </p:txBody>
      </p:sp>
      <p:sp>
        <p:nvSpPr>
          <p:cNvPr id="17" name="对象12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37921" y="2606993"/>
            <a:ext cx="3188409" cy="3132620"/>
          </a:xfrm>
          <a:custGeom>
            <a:avLst/>
            <a:gdLst/>
            <a:ahLst/>
            <a:cxnLst/>
            <a:rect l="l" t="t" r="r" b="b"/>
            <a:pathLst>
              <a:path w="2340864" h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w="53975">
            <a:solidFill>
              <a:schemeClr val="accent1"/>
            </a:solidFill>
          </a:ln>
        </p:spPr>
        <p:txBody>
          <a:bodyPr wrap="square" lIns="360000" tIns="0" rIns="360000" bIns="0" anchor="ctr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700" b="1" dirty="0">
                <a:solidFill>
                  <a:schemeClr val="accent1"/>
                </a:solidFill>
                <a:latin typeface="+mj-lt"/>
                <a:sym typeface="+mn-ea"/>
              </a:rPr>
              <a:t>System Flow</a:t>
            </a:r>
            <a:endParaRPr lang="en-US" sz="2700" b="1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sp>
        <p:nvSpPr>
          <p:cNvPr id="13" name="object 4"/>
          <p:cNvSpPr/>
          <p:nvPr/>
        </p:nvSpPr>
        <p:spPr>
          <a:xfrm>
            <a:off x="9403715" y="1435100"/>
            <a:ext cx="2114550" cy="4606290"/>
          </a:xfrm>
          <a:custGeom>
            <a:avLst/>
            <a:gdLst/>
            <a:ahLst/>
            <a:cxnLst/>
            <a:rect l="l" t="t" r="r" b="b"/>
            <a:pathLst>
              <a:path w="5039359" h="4727575">
                <a:moveTo>
                  <a:pt x="5039180" y="4727290"/>
                </a:moveTo>
                <a:lnTo>
                  <a:pt x="0" y="4727290"/>
                </a:lnTo>
                <a:lnTo>
                  <a:pt x="0" y="0"/>
                </a:lnTo>
                <a:lnTo>
                  <a:pt x="5039180" y="0"/>
                </a:lnTo>
                <a:lnTo>
                  <a:pt x="5039180" y="47272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200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448732" y="2844799"/>
                </a:moveTo>
                <a:lnTo>
                  <a:pt x="0" y="2844799"/>
                </a:lnTo>
                <a:lnTo>
                  <a:pt x="0" y="0"/>
                </a:lnTo>
                <a:lnTo>
                  <a:pt x="448732" y="2844799"/>
                </a:lnTo>
                <a:close/>
              </a:path>
            </a:pathLst>
          </a:custGeom>
          <a:solidFill>
            <a:srgbClr val="90C126">
              <a:alpha val="8470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Results</a:t>
            </a:r>
            <a:endParaRPr spc="-25" dirty="0"/>
          </a:p>
        </p:txBody>
      </p:sp>
      <p:sp>
        <p:nvSpPr>
          <p:cNvPr id="4" name="object 4"/>
          <p:cNvSpPr/>
          <p:nvPr/>
        </p:nvSpPr>
        <p:spPr>
          <a:xfrm>
            <a:off x="609387" y="1348997"/>
            <a:ext cx="10901045" cy="4727575"/>
          </a:xfrm>
          <a:custGeom>
            <a:avLst/>
            <a:gdLst/>
            <a:ahLst/>
            <a:cxnLst/>
            <a:rect l="l" t="t" r="r" b="b"/>
            <a:pathLst>
              <a:path w="10901045" h="4727575">
                <a:moveTo>
                  <a:pt x="10901030" y="4727290"/>
                </a:moveTo>
                <a:lnTo>
                  <a:pt x="0" y="4727290"/>
                </a:lnTo>
                <a:lnTo>
                  <a:pt x="0" y="0"/>
                </a:lnTo>
                <a:lnTo>
                  <a:pt x="10901030" y="0"/>
                </a:lnTo>
                <a:lnTo>
                  <a:pt x="10901030" y="47272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4850" y="1330325"/>
            <a:ext cx="8385175" cy="374269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400685" indent="-387985">
              <a:lnSpc>
                <a:spcPct val="100000"/>
              </a:lnSpc>
              <a:spcBef>
                <a:spcPts val="1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1800">
                <a:latin typeface="Trebuchet MS" panose="020B0603020202020204"/>
                <a:cs typeface="Trebuchet MS" panose="020B0603020202020204"/>
              </a:rPr>
              <a:t>Secure JWT-based authentication with email verification implemented</a:t>
            </a:r>
            <a:endParaRPr lang="en-US" altLang="en-US" sz="18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1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1800">
                <a:latin typeface="Trebuchet MS" panose="020B0603020202020204"/>
                <a:cs typeface="Trebuchet MS" panose="020B0603020202020204"/>
              </a:rPr>
              <a:t>Multi-tenant subscription management system successfully developed</a:t>
            </a:r>
            <a:endParaRPr lang="en-US" altLang="en-US" sz="18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1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1800">
                <a:latin typeface="Trebuchet MS" panose="020B0603020202020204"/>
                <a:cs typeface="Trebuchet MS" panose="020B0603020202020204"/>
              </a:rPr>
              <a:t>Role-based dashboards for Admin, Tenant, and User</a:t>
            </a:r>
            <a:endParaRPr lang="en-US" altLang="en-US" sz="18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1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1800">
                <a:latin typeface="Trebuchet MS" panose="020B0603020202020204"/>
                <a:cs typeface="Trebuchet MS" panose="020B0603020202020204"/>
              </a:rPr>
              <a:t>AI features: plan generation, analytics, and churn prediction</a:t>
            </a:r>
            <a:endParaRPr lang="en-US" altLang="en-US" sz="18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1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1800">
                <a:latin typeface="Trebuchet MS" panose="020B0603020202020204"/>
                <a:cs typeface="Trebuchet MS" panose="020B0603020202020204"/>
              </a:rPr>
              <a:t>Successfully deployed on cloud (Azure – backend, Vercel – frontend)</a:t>
            </a:r>
            <a:endParaRPr lang="en-US" altLang="en-US" sz="1800">
              <a:latin typeface="Trebuchet MS" panose="020B0603020202020204"/>
              <a:cs typeface="Trebuchet MS" panose="020B0603020202020204"/>
            </a:endParaRPr>
          </a:p>
          <a:p>
            <a:pPr marL="400685" indent="-387985">
              <a:lnSpc>
                <a:spcPct val="100000"/>
              </a:lnSpc>
              <a:spcBef>
                <a:spcPts val="100"/>
              </a:spcBef>
              <a:buClr>
                <a:srgbClr val="90C126"/>
              </a:buClr>
              <a:buSzPct val="78000"/>
              <a:buFont typeface="Lucida Sans Unicode" panose="020B0602030504020204"/>
              <a:buChar char="►"/>
              <a:tabLst>
                <a:tab pos="400685" algn="l"/>
              </a:tabLst>
            </a:pPr>
            <a:r>
              <a:rPr lang="en-US" altLang="en-US" sz="1800">
                <a:latin typeface="Trebuchet MS" panose="020B0603020202020204"/>
                <a:cs typeface="Trebuchet MS" panose="020B0603020202020204"/>
              </a:rPr>
              <a:t>Optimized API performance with fast response time</a:t>
            </a:r>
            <a:endParaRPr lang="en-US" altLang="en-US" sz="18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294570" y="5101700"/>
            <a:ext cx="1893902" cy="17562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dirty="0"/>
              <a:t>8</a:t>
            </a:r>
            <a:r>
              <a:rPr spc="-10" dirty="0"/>
              <a:t> October</a:t>
            </a:r>
            <a:endParaRPr spc="-10" dirty="0"/>
          </a:p>
          <a:p>
            <a:pPr marR="5080" algn="r">
              <a:lnSpc>
                <a:spcPct val="100000"/>
              </a:lnSpc>
            </a:pPr>
            <a:r>
              <a:rPr spc="-20" dirty="0"/>
              <a:t>2025</a:t>
            </a:r>
            <a:endParaRPr spc="-20" dirty="0"/>
          </a:p>
        </p:txBody>
      </p:sp>
      <p:sp>
        <p:nvSpPr>
          <p:cNvPr id="8" name="object 8"/>
          <p:cNvSpPr txBox="1"/>
          <p:nvPr/>
        </p:nvSpPr>
        <p:spPr>
          <a:xfrm>
            <a:off x="750358" y="6145048"/>
            <a:ext cx="1056640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MCA/MSc.</a:t>
            </a:r>
            <a:r>
              <a:rPr sz="900" spc="-4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spc="-1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[2024-</a:t>
            </a:r>
            <a:r>
              <a:rPr sz="900" spc="-25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26]</a:t>
            </a:r>
            <a:endParaRPr sz="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67209" y="6145048"/>
            <a:ext cx="1682750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School</a:t>
            </a:r>
            <a:r>
              <a:rPr sz="900" spc="-45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900" spc="-3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spc="-1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Computer</a:t>
            </a:r>
            <a:r>
              <a:rPr sz="900" spc="-6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spc="-1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Applications</a:t>
            </a:r>
            <a:endParaRPr sz="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#AchyutaSamanta</a:t>
            </a:r>
            <a:r>
              <a:rPr spc="-75" dirty="0"/>
              <a:t> </a:t>
            </a:r>
            <a:r>
              <a:rPr spc="-10" dirty="0"/>
              <a:t>#ArtofGiving</a:t>
            </a:r>
            <a:endParaRPr spc="-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200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448732" y="2844799"/>
                </a:moveTo>
                <a:lnTo>
                  <a:pt x="0" y="2844799"/>
                </a:lnTo>
                <a:lnTo>
                  <a:pt x="0" y="0"/>
                </a:lnTo>
                <a:lnTo>
                  <a:pt x="448732" y="2844799"/>
                </a:lnTo>
                <a:close/>
              </a:path>
            </a:pathLst>
          </a:custGeom>
          <a:solidFill>
            <a:srgbClr val="90C126">
              <a:alpha val="8470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5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References</a:t>
            </a:r>
            <a:endParaRPr spc="-20" dirty="0"/>
          </a:p>
        </p:txBody>
      </p:sp>
      <p:sp>
        <p:nvSpPr>
          <p:cNvPr id="4" name="object 4"/>
          <p:cNvSpPr/>
          <p:nvPr/>
        </p:nvSpPr>
        <p:spPr>
          <a:xfrm>
            <a:off x="677332" y="1314072"/>
            <a:ext cx="10901045" cy="4727575"/>
          </a:xfrm>
          <a:custGeom>
            <a:avLst/>
            <a:gdLst/>
            <a:ahLst/>
            <a:cxnLst/>
            <a:rect l="l" t="t" r="r" b="b"/>
            <a:pathLst>
              <a:path w="10901045" h="4727575">
                <a:moveTo>
                  <a:pt x="10901030" y="4727290"/>
                </a:moveTo>
                <a:lnTo>
                  <a:pt x="0" y="4727290"/>
                </a:lnTo>
                <a:lnTo>
                  <a:pt x="0" y="0"/>
                </a:lnTo>
                <a:lnTo>
                  <a:pt x="10901030" y="0"/>
                </a:lnTo>
                <a:lnTo>
                  <a:pt x="10901030" y="47272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50358" y="1203328"/>
            <a:ext cx="9961245" cy="250698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62585" indent="-349885">
              <a:lnSpc>
                <a:spcPct val="100000"/>
              </a:lnSpc>
              <a:spcBef>
                <a:spcPts val="1100"/>
              </a:spcBef>
              <a:buAutoNum type="arabicPlain"/>
              <a:tabLst>
                <a:tab pos="362585" algn="l"/>
              </a:tabLst>
            </a:pPr>
            <a:r>
              <a:rPr lang="en-US" altLang="en-US" sz="1800">
                <a:latin typeface="Trebuchet MS" panose="020B0603020202020204"/>
                <a:cs typeface="Trebuchet MS" panose="020B0603020202020204"/>
              </a:rPr>
              <a:t>1. Spring Boot Documentation –</a:t>
            </a:r>
            <a:r>
              <a:rPr lang="en-US" altLang="en-US" sz="1800">
                <a:latin typeface="Trebuchet MS" panose="020B0603020202020204"/>
                <a:cs typeface="Trebuchet MS" panose="020B0603020202020204"/>
                <a:hlinkClick r:id="rId1" tooltip="" action="ppaction://hlinkfile"/>
              </a:rPr>
              <a:t> https://spring.io/projects/spring-boot  </a:t>
            </a:r>
            <a:endParaRPr lang="en-US" altLang="en-US" sz="1800">
              <a:latin typeface="Trebuchet MS" panose="020B0603020202020204"/>
              <a:cs typeface="Trebuchet MS" panose="020B0603020202020204"/>
            </a:endParaRPr>
          </a:p>
          <a:p>
            <a:pPr marL="362585" indent="-349885">
              <a:lnSpc>
                <a:spcPct val="100000"/>
              </a:lnSpc>
              <a:spcBef>
                <a:spcPts val="1100"/>
              </a:spcBef>
              <a:buAutoNum type="arabicPlain"/>
              <a:tabLst>
                <a:tab pos="362585" algn="l"/>
              </a:tabLst>
            </a:pPr>
            <a:r>
              <a:rPr lang="en-US" altLang="en-US" sz="1800">
                <a:latin typeface="Trebuchet MS" panose="020B0603020202020204"/>
                <a:cs typeface="Trebuchet MS" panose="020B0603020202020204"/>
              </a:rPr>
              <a:t>2. React Official Documentation – </a:t>
            </a:r>
            <a:r>
              <a:rPr lang="en-US" altLang="en-US" sz="1800">
                <a:latin typeface="Trebuchet MS" panose="020B0603020202020204"/>
                <a:cs typeface="Trebuchet MS" panose="020B0603020202020204"/>
                <a:hlinkClick r:id="rId2" tooltip="" action="ppaction://hlinkfile"/>
              </a:rPr>
              <a:t>https://react.dev</a:t>
            </a:r>
            <a:r>
              <a:rPr lang="en-US" altLang="en-US" sz="1800">
                <a:latin typeface="Trebuchet MS" panose="020B0603020202020204"/>
                <a:cs typeface="Trebuchet MS" panose="020B0603020202020204"/>
              </a:rPr>
              <a:t>  </a:t>
            </a:r>
            <a:endParaRPr lang="en-US" altLang="en-US" sz="1800">
              <a:latin typeface="Trebuchet MS" panose="020B0603020202020204"/>
              <a:cs typeface="Trebuchet MS" panose="020B0603020202020204"/>
            </a:endParaRPr>
          </a:p>
          <a:p>
            <a:pPr marL="362585" indent="-349885">
              <a:lnSpc>
                <a:spcPct val="100000"/>
              </a:lnSpc>
              <a:spcBef>
                <a:spcPts val="1100"/>
              </a:spcBef>
              <a:buAutoNum type="arabicPlain"/>
              <a:tabLst>
                <a:tab pos="362585" algn="l"/>
              </a:tabLst>
            </a:pPr>
            <a:r>
              <a:rPr lang="en-US" altLang="en-US" sz="1800">
                <a:latin typeface="Trebuchet MS" panose="020B0603020202020204"/>
                <a:cs typeface="Trebuchet MS" panose="020B0603020202020204"/>
              </a:rPr>
              <a:t>3. JWT Authentication Guide –</a:t>
            </a:r>
            <a:r>
              <a:rPr lang="en-US" altLang="en-US" sz="1800">
                <a:latin typeface="Trebuchet MS" panose="020B0603020202020204"/>
                <a:cs typeface="Trebuchet MS" panose="020B0603020202020204"/>
                <a:hlinkClick r:id="rId3" tooltip="" action="ppaction://hlinkfile"/>
              </a:rPr>
              <a:t> https://jwt.io</a:t>
            </a:r>
            <a:r>
              <a:rPr lang="en-US" altLang="en-US" sz="1800">
                <a:latin typeface="Trebuchet MS" panose="020B0603020202020204"/>
                <a:cs typeface="Trebuchet MS" panose="020B0603020202020204"/>
              </a:rPr>
              <a:t>  </a:t>
            </a:r>
            <a:endParaRPr lang="en-US" altLang="en-US" sz="1800">
              <a:latin typeface="Trebuchet MS" panose="020B0603020202020204"/>
              <a:cs typeface="Trebuchet MS" panose="020B0603020202020204"/>
            </a:endParaRPr>
          </a:p>
          <a:p>
            <a:pPr marL="362585" indent="-349885">
              <a:lnSpc>
                <a:spcPct val="100000"/>
              </a:lnSpc>
              <a:spcBef>
                <a:spcPts val="1100"/>
              </a:spcBef>
              <a:buAutoNum type="arabicPlain"/>
              <a:tabLst>
                <a:tab pos="362585" algn="l"/>
              </a:tabLst>
            </a:pPr>
            <a:r>
              <a:rPr lang="en-US" altLang="en-US" sz="1800">
                <a:latin typeface="Trebuchet MS" panose="020B0603020202020204"/>
                <a:cs typeface="Trebuchet MS" panose="020B0603020202020204"/>
              </a:rPr>
              <a:t>4. Tailwind CSS Documentation – </a:t>
            </a:r>
            <a:r>
              <a:rPr lang="en-US" altLang="en-US" sz="1800">
                <a:latin typeface="Trebuchet MS" panose="020B0603020202020204"/>
                <a:cs typeface="Trebuchet MS" panose="020B0603020202020204"/>
                <a:hlinkClick r:id="rId4" tooltip="" action="ppaction://hlinkfile"/>
              </a:rPr>
              <a:t>https://tailwindcss.com</a:t>
            </a:r>
            <a:r>
              <a:rPr lang="en-US" altLang="en-US" sz="1800">
                <a:latin typeface="Trebuchet MS" panose="020B0603020202020204"/>
                <a:cs typeface="Trebuchet MS" panose="020B0603020202020204"/>
              </a:rPr>
              <a:t>  </a:t>
            </a:r>
            <a:endParaRPr lang="en-US" altLang="en-US" sz="1800">
              <a:latin typeface="Trebuchet MS" panose="020B0603020202020204"/>
              <a:cs typeface="Trebuchet MS" panose="020B0603020202020204"/>
            </a:endParaRPr>
          </a:p>
          <a:p>
            <a:pPr marL="362585" indent="-349885">
              <a:lnSpc>
                <a:spcPct val="100000"/>
              </a:lnSpc>
              <a:spcBef>
                <a:spcPts val="1100"/>
              </a:spcBef>
              <a:buAutoNum type="arabicPlain"/>
              <a:tabLst>
                <a:tab pos="362585" algn="l"/>
              </a:tabLst>
            </a:pPr>
            <a:r>
              <a:rPr lang="en-US" altLang="en-US" sz="1800">
                <a:latin typeface="Trebuchet MS" panose="020B0603020202020204"/>
                <a:cs typeface="Trebuchet MS" panose="020B0603020202020204"/>
              </a:rPr>
              <a:t>5. Azure Deployment Docs – </a:t>
            </a:r>
            <a:r>
              <a:rPr lang="en-US" altLang="en-US" sz="1800">
                <a:latin typeface="Trebuchet MS" panose="020B0603020202020204"/>
                <a:cs typeface="Trebuchet MS" panose="020B0603020202020204"/>
                <a:hlinkClick r:id="rId5" tooltip="" action="ppaction://hlinkfile"/>
              </a:rPr>
              <a:t>https://learn.microsoft.com/en-us/azure  </a:t>
            </a:r>
            <a:endParaRPr lang="en-US" altLang="en-US" sz="1800">
              <a:latin typeface="Trebuchet MS" panose="020B0603020202020204"/>
              <a:cs typeface="Trebuchet MS" panose="020B0603020202020204"/>
            </a:endParaRPr>
          </a:p>
          <a:p>
            <a:pPr marL="362585" indent="-349885">
              <a:lnSpc>
                <a:spcPct val="100000"/>
              </a:lnSpc>
              <a:spcBef>
                <a:spcPts val="1100"/>
              </a:spcBef>
              <a:buAutoNum type="arabicPlain"/>
              <a:tabLst>
                <a:tab pos="362585" algn="l"/>
              </a:tabLst>
            </a:pPr>
            <a:r>
              <a:rPr lang="en-US" altLang="en-US" sz="1800">
                <a:latin typeface="Trebuchet MS" panose="020B0603020202020204"/>
                <a:cs typeface="Trebuchet MS" panose="020B0603020202020204"/>
              </a:rPr>
              <a:t>6. Vercel Deployment Docs – </a:t>
            </a:r>
            <a:r>
              <a:rPr lang="en-US" altLang="en-US" sz="1800">
                <a:latin typeface="Trebuchet MS" panose="020B0603020202020204"/>
                <a:cs typeface="Trebuchet MS" panose="020B0603020202020204"/>
                <a:hlinkClick r:id="rId6" tooltip="" action="ppaction://hlinkfile"/>
              </a:rPr>
              <a:t>https://vercel.com/docs</a:t>
            </a:r>
            <a:endParaRPr lang="en-US" altLang="en-US" sz="18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01539" y="5104894"/>
            <a:ext cx="1890459" cy="175310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5"/>
              </a:spcBef>
            </a:pPr>
            <a:r>
              <a:rPr dirty="0"/>
              <a:t>8</a:t>
            </a:r>
            <a:r>
              <a:rPr spc="-10" dirty="0"/>
              <a:t> October</a:t>
            </a:r>
            <a:endParaRPr spc="-10" dirty="0"/>
          </a:p>
          <a:p>
            <a:pPr marR="5080" algn="r">
              <a:lnSpc>
                <a:spcPct val="100000"/>
              </a:lnSpc>
            </a:pPr>
            <a:r>
              <a:rPr spc="-20" dirty="0"/>
              <a:t>2025</a:t>
            </a:r>
            <a:endParaRPr spc="-20" dirty="0"/>
          </a:p>
        </p:txBody>
      </p:sp>
      <p:sp>
        <p:nvSpPr>
          <p:cNvPr id="8" name="object 8"/>
          <p:cNvSpPr txBox="1"/>
          <p:nvPr/>
        </p:nvSpPr>
        <p:spPr>
          <a:xfrm>
            <a:off x="750358" y="6145048"/>
            <a:ext cx="1056640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MCA/MSc.</a:t>
            </a:r>
            <a:r>
              <a:rPr sz="900" spc="-4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spc="-1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[2024-</a:t>
            </a:r>
            <a:r>
              <a:rPr sz="900" spc="-25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26]</a:t>
            </a:r>
            <a:endParaRPr sz="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67209" y="6145048"/>
            <a:ext cx="1682750" cy="158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School</a:t>
            </a:r>
            <a:r>
              <a:rPr sz="900" spc="-45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900" spc="-3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spc="-1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Computer</a:t>
            </a:r>
            <a:r>
              <a:rPr sz="900" spc="-6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00" spc="-10" dirty="0">
                <a:solidFill>
                  <a:srgbClr val="888888"/>
                </a:solidFill>
                <a:latin typeface="Trebuchet MS" panose="020B0603020202020204"/>
                <a:cs typeface="Trebuchet MS" panose="020B0603020202020204"/>
              </a:rPr>
              <a:t>Applications</a:t>
            </a:r>
            <a:endParaRPr sz="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#AchyutaSamanta</a:t>
            </a:r>
            <a:r>
              <a:rPr spc="-75" dirty="0"/>
              <a:t> </a:t>
            </a:r>
            <a:r>
              <a:rPr spc="-10" dirty="0"/>
              <a:t>#ArtofGiving</a:t>
            </a:r>
            <a:endParaRPr spc="-1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1.6748962402344,&quot;left&quot;:53.122161865234375,&quot;top&quot;:152.81255187988282,&quot;width&quot;:853.7556762695312}"/>
  <p:tag name="KSO_WM_DIAGRAM_COLOR_MATCH_VALUE" val="{&quot;shape&quot;:{&quot;fill&quot;:{&quot;solid&quot;:{&quot;brightness&quot;:0.699999988079071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8223_2*n_h_i*1_1_1"/>
  <p:tag name="KSO_WM_TEMPLATE_CATEGORY" val="diagram"/>
  <p:tag name="KSO_WM_TEMPLATE_INDEX" val="20238223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7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1.6748962402344,&quot;left&quot;:53.122161865234375,&quot;top&quot;:152.81255187988282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04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8223_2*n_h_h_f*1_2_2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1.6748962402344,&quot;left&quot;:53.122161865234375,&quot;top&quot;:152.81255187988282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16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8223_2*n_h_h_f*1_2_1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1.6748962402344,&quot;left&quot;:53.122161865234375,&quot;top&quot;:152.81255187988282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16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8223_2*n_h_h_f*1_2_3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51.6748962402344,&quot;left&quot;:53.122161865234375,&quot;top&quot;:152.81255187988282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223_2*n_h_h_i*1_2_1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51.6748962402344,&quot;left&quot;:53.122161865234375,&quot;top&quot;:152.81255187988282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2_1"/>
  <p:tag name="KSO_WM_UNIT_ID" val="diagram20238223_2*n_h_h_i*1_2_2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UNIT_TEXT_FILL_FORE_SCHEMECOLOR_INDEX_BRIGHTNESS" val="0.15"/>
  <p:tag name="KSO_WM_DIAGRAM_MAX_ITEMCNT" val="6"/>
  <p:tag name="KSO_WM_DIAGRAM_MIN_ITEMCNT" val="2"/>
  <p:tag name="KSO_WM_DIAGRAM_VIRTUALLY_FRAME" val="{&quot;height&quot;:351.6748962402344,&quot;left&quot;:53.122161865234375,&quot;top&quot;:152.81255187988282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3_1"/>
  <p:tag name="KSO_WM_UNIT_ID" val="diagram20238223_2*n_h_h_i*1_2_3_1"/>
  <p:tag name="KSO_WM_TEMPLATE_CATEGORY" val="diagram"/>
  <p:tag name="KSO_WM_TEMPLATE_INDEX" val="20238223"/>
  <p:tag name="KSO_WM_UNIT_LAYERLEVEL" val="1_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51.6748962402344,&quot;left&quot;:53.122161865234375,&quot;top&quot;:152.81255187988282,&quot;width&quot;:853.7556762695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7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8223_2*n_h_a*1_1_1"/>
  <p:tag name="KSO_WM_TEMPLATE_CATEGORY" val="diagram"/>
  <p:tag name="KSO_WM_TEMPLATE_INDEX" val="20238223"/>
  <p:tag name="KSO_WM_UNIT_LAYERLEVEL" val="1_1_1"/>
  <p:tag name="KSO_WM_TAG_VERSION" val="3.0"/>
  <p:tag name="KSO_WM_BEAUTIFY_FLAG" val="#wm#"/>
  <p:tag name="KSO_WM_UNIT_PRESET_TEXT" val="Your title here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resource_record_key" val="{&quot;70&quot;:[3318867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3233</Words>
  <Application>WPS Presentation</Application>
  <PresentationFormat>On-screen Show (4:3)</PresentationFormat>
  <Paragraphs>138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Trebuchet MS</vt:lpstr>
      <vt:lpstr>Lucida Sans Unicode</vt:lpstr>
      <vt:lpstr>Microsoft YaHei</vt:lpstr>
      <vt:lpstr>Arial Unicode MS</vt:lpstr>
      <vt:lpstr>Calibri</vt:lpstr>
      <vt:lpstr>Office Theme</vt:lpstr>
      <vt:lpstr>Project Title: Aegis Infra: A Multi-Tenant SaaS Backend Platform with StudyVault Integration</vt:lpstr>
      <vt:lpstr>Abstract</vt:lpstr>
      <vt:lpstr>Related Works</vt:lpstr>
      <vt:lpstr>Our Methodology</vt:lpstr>
      <vt:lpstr>PowerPoint 演示文稿</vt:lpstr>
      <vt:lpstr>Results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Aegis Infra: A Multi-Tenant SaaS Backend Platform with StudyVault Integration</dc:title>
  <dc:creator/>
  <cp:lastModifiedBy>KIIT</cp:lastModifiedBy>
  <cp:revision>10</cp:revision>
  <dcterms:created xsi:type="dcterms:W3CDTF">2026-04-13T08:39:00Z</dcterms:created>
  <dcterms:modified xsi:type="dcterms:W3CDTF">2026-04-13T12:13:48Z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2026-04-13T16:30:00Z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2026-04-13T16:30:00Z</vt:filetime>
  </property>
  <property fmtid="{D5CDD505-2E9C-101B-9397-08002B2CF9AE}" pid="7" name="KSOProductBuildVer">
    <vt:lpwstr>1033-12.1.0.25830</vt:lpwstr>
  </property>
  <property fmtid="{D5CDD505-2E9C-101B-9397-08002B2CF9AE}" pid="8" name="ICV">
    <vt:lpwstr>F0DF4B4C23DE47EB912ABB5816BECAB2_12</vt:lpwstr>
  </property>
</Properties>
</file>